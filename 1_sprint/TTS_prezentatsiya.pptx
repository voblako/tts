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463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07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Проектная работа «Текст в голос» · Спринт 1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01168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1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Сравнение систем синтеза речи (TTS)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9319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Соломахин Е. И., Мажаров А. В., Ишутов М. С. · группа 201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480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B5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Руководитель: Плотникова Н. В. · ЮУрГУ, Центр «Цифровой Урал» · Челябинск,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и задачи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303520" cy="4206240"/>
          </a:xfrm>
          <a:prstGeom prst="roundRect">
            <a:avLst>
              <a:gd name="adj" fmla="val 2174"/>
            </a:avLst>
          </a:prstGeom>
          <a:solidFill>
            <a:srgbClr val="14202B"/>
          </a:solidFill>
          <a:ln w="12700">
            <a:solidFill>
              <a:srgbClr val="14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7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493776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1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Рассмотреть архитектуры систем синтеза речи, определить области их применения на предприятии и сравнить ElevenLabs, Yandex SpeechKit и openbmb/VoxCPM2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217920" y="1554480"/>
            <a:ext cx="530352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0" y="16916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55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Задачи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2194560"/>
            <a:ext cx="493776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Структура систем и эволюция подходов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Ключевые архитектуры: от Tacotron до гибридов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Метрики качества и нерешённые проблемы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Сценарии применения на предприятии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Сравнение систем по плюсам, минусам и цене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2636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Актуальность: запись диктора на каждое изменение текста обходится дорого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Структура системы синтеза речи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19659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8745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Текст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77440"/>
            <a:ext cx="1600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Входные данные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606040" y="23774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07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926080" y="1737360"/>
            <a:ext cx="19659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108960" y="18745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frontend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108960" y="2377440"/>
            <a:ext cx="1600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нормализация, G2P, ударения, паузы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23774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07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212080" y="1737360"/>
            <a:ext cx="19659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394960" y="18745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Акустическая модель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394960" y="2377440"/>
            <a:ext cx="1600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предсказывает спектрограмму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178040" y="23774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07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498080" y="1737360"/>
            <a:ext cx="19659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680960" y="18745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Вокодер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680960" y="2377440"/>
            <a:ext cx="1600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восстанавливает фазу сигнала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464040" y="23774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07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784080" y="1737360"/>
            <a:ext cx="1965960" cy="1920240"/>
          </a:xfrm>
          <a:prstGeom prst="roundRect">
            <a:avLst>
              <a:gd name="adj" fmla="val 4762"/>
            </a:avLst>
          </a:prstGeom>
          <a:solidFill>
            <a:srgbClr val="E07A3F"/>
          </a:solidFill>
          <a:ln w="12700">
            <a:solidFill>
              <a:srgbClr val="E07A3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966960" y="18745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Звук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9966960" y="2377440"/>
            <a:ext cx="1600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Звуковая волна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420624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Спектрограмма хранит амплитуды, но не фазу, поэтому нужен отдельный вокодер. End-to-end модели постепенно размывают эти границы.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62636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Источники: [1, 2, 3]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Эволюция подходов</a:t>
            </a:r>
            <a:endParaRPr lang="en-US" sz="3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29184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1ED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Поколение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1ED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Идея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1ED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Сильные стороны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1ED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Слабые стороны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 selection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Склейка записанных юнитов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Естественность, скорость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Монотонность, артефакты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Параметрический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Предсказание параметров + вокодер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Мало данных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Низкое качество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Нейросетевой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Tacotron 2 + WaveNet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MOS около 4,5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Медленная генерация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Диффузионный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Grad-TTS: шум → спектрограмма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Баланс качества и скорости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Итеративность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Токенный гибрид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Voxtral TTS: токены + flow matching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Клонирование голоса, стриминг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Большая модель, лицензия NC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40080" y="62636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Источники: [1, 3, 4, 5]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Ключевые архитектуры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474720" cy="4206240"/>
          </a:xfrm>
          <a:prstGeom prst="roundRect">
            <a:avLst>
              <a:gd name="adj" fmla="val 2632"/>
            </a:avLst>
          </a:prstGeom>
          <a:solidFill>
            <a:srgbClr val="1F3140"/>
          </a:solidFill>
          <a:ln w="12700">
            <a:solidFill>
              <a:srgbClr val="1F314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7373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07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4,52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926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Tacotron 2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474720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1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 против 4,58 у записанной речи. Текст подаётся на вход, WaveNet-вокодер даёт звук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43400" y="1554480"/>
            <a:ext cx="3474720" cy="4206240"/>
          </a:xfrm>
          <a:prstGeom prst="roundRect">
            <a:avLst>
              <a:gd name="adj" fmla="val 2632"/>
            </a:avLst>
          </a:prstGeom>
          <a:solidFill>
            <a:srgbClr val="1F3140"/>
          </a:solidFill>
          <a:ln w="12700">
            <a:solidFill>
              <a:srgbClr val="1F314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17720" y="17373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07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4,38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2926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Grad-TTS-10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3474720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1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Диффузионная модель на 10 шагах: вдвое быстрее Tacotron 2 при сопоставимом качестве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46720" y="1554480"/>
            <a:ext cx="3474720" cy="4206240"/>
          </a:xfrm>
          <a:prstGeom prst="roundRect">
            <a:avLst>
              <a:gd name="adj" fmla="val 2632"/>
            </a:avLst>
          </a:prstGeom>
          <a:solidFill>
            <a:srgbClr val="1F3140"/>
          </a:solidFill>
          <a:ln w="12700">
            <a:solidFill>
              <a:srgbClr val="1F314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7373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07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68,4%</a:t>
            </a:r>
            <a:endParaRPr lang="en-US" sz="48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926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Voxtral TTS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3474720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1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Предпочтений против ElevenLabs Flash v2.5; голос клонируется по 3 секундам, 9 языков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62636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B5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Источники: [3, 4, 5]. MOS: оценка естественности по шкале от 1 до 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Применение на предприятии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Инструктажи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Охрана труда без записи диктора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83280" y="155448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66160" y="16916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Оповещение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219456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Аварийные объявления в шумных цехах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155448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09360" y="16916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Подсказки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219456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Шаги и предупреждения операторам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869680" y="155448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052560" y="16916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Обучение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9052560" y="219456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Курсы и регламенты для новичков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74904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38862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Диспетчеризация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38912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Склад, отгрузка, проходная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383280" y="374904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566160" y="38862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Новости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3566160" y="438912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Приказы в аудиоформате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26480" y="374904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09360" y="38862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Доступность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309360" y="438912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Помощь людям с нарушением зрения и иностранным рабочим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869680" y="374904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E07A3F"/>
          </a:solidFill>
          <a:ln w="12700">
            <a:solidFill>
              <a:srgbClr val="E07A3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052560" y="38862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Требования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052560" y="438912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Быстрая генерация, обновление текстов без диктора, несколько языков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Сравнение систем синтеза речи</a:t>
            </a:r>
            <a:endParaRPr lang="en-US" sz="3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474720"/>
                <a:gridCol w="2743200"/>
                <a:gridCol w="2468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1ED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Сервис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1ED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Преимущество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1ED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Недостаток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1ED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Стоимость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ElevenLabs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Высокое качество, много голосов, SSML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Невозможна оплата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копеек за символ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Yandex SpeechKit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Дёшево, реальное время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Металлические шумы, нет SSML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0,1 копейки за символ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VoxCPM2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Открытая модель, качество, SSML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 менее 8 ГБ памяти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Бесплатно, свой сервер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40080" y="448056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Вывод: </a:t>
            </a:r>
            <a:pPr indent="0" marL="0">
              <a:buNone/>
            </a:pPr>
            <a:r>
              <a:rPr lang="en-US" sz="16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Yandex SpeechKit подходит для быстрых оповещений, VoxCPM2 для качества и управления произношением. ElevenLabs недоступен из-за оплаты.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Сравнение систем синтеза речи (TTS)</dc:title>
  <dc:subject>PptxGenJS Presentation</dc:subject>
  <dc:creator>PptxGenJS</dc:creator>
  <cp:lastModifiedBy>PptxGenJS</cp:lastModifiedBy>
  <cp:revision>1</cp:revision>
  <dcterms:created xsi:type="dcterms:W3CDTF">2026-10-08T05:11:07Z</dcterms:created>
  <dcterms:modified xsi:type="dcterms:W3CDTF">2026-10-08T05:11:07Z</dcterms:modified>
</cp:coreProperties>
</file>