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C6BA7105-D171-DF73-71BB-6378B81202D0}">
          <p14:sldIdLst>
            <p14:sldId id="256"/>
            <p14:sldId id="257"/>
          </p14:sldIdLst>
        </p14:section>
        <p14:section name="Технологии TTS" id="{3C13CA97-C855-1938-D7CF-B0641D4AE091}">
          <p14:sldIdLst>
            <p14:sldId id="258"/>
            <p14:sldId id="259"/>
            <p14:sldId id="260"/>
            <p14:sldId id="261"/>
            <p14:sldId id="262"/>
          </p14:sldIdLst>
        </p14:section>
        <p14:section name="Применение и сравнение" id="{DDE3DB1B-99F5-C1FC-1165-F083EB3831D3}">
          <p14:sldIdLst>
            <p14:sldId id="263"/>
            <p14:sldId id="264"/>
            <p14:sldId id="265"/>
          </p14:sldIdLst>
        </p14:section>
        <p14:section name="Постановка задачи на проект" id="{BEFE97B9-975B-DBE4-DC7B-1D50AE1CED3F}">
          <p14:sldIdLst>
            <p14:sldId id="266"/>
            <p14:sldId id="267"/>
            <p14:sldId id="268"/>
          </p14:sldIdLst>
        </p14:section>
        <p14:section name="Источники" id="{394AF3FA-3CC1-68AE-0B7F-3BBAF57A32D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72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D16CF-EC90-4A2B-AF07-B82A0092E316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4C8FE-E0A0-436F-8786-8733588F64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49151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235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4980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20440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25000"/>
              </a:schemeClr>
            </a:gs>
            <a:gs pos="74000">
              <a:schemeClr val="bg2">
                <a:lumMod val="25000"/>
              </a:schemeClr>
            </a:gs>
            <a:gs pos="83000">
              <a:schemeClr val="tx2">
                <a:lumMod val="75000"/>
                <a:lumOff val="25000"/>
              </a:schemeClr>
            </a:gs>
            <a:gs pos="100000">
              <a:schemeClr val="bg2">
                <a:lumMod val="2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Сравнение систем синтеза речи (TTS)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20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accent4"/>
                </a:solidFill>
              </a:rPr>
              <a:t>Проектная работа «Текст в голос», спринт 1</a:t>
            </a:r>
            <a:endParaRPr lang="en-US" sz="2800" dirty="0"/>
          </a:p>
        </p:txBody>
      </p:sp>
      <p:sp>
        <p:nvSpPr>
          <p:cNvPr id="4" name="Авторы"/>
          <p:cNvSpPr txBox="1"/>
          <p:nvPr/>
        </p:nvSpPr>
        <p:spPr>
          <a:xfrm>
            <a:off x="731520" y="45262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accent4"/>
                </a:solidFill>
              </a:rPr>
              <a:t>Выполнили: </a:t>
            </a:r>
            <a:r>
              <a:rPr lang="en-US" sz="2000" dirty="0">
                <a:solidFill>
                  <a:schemeClr val="bg1"/>
                </a:solidFill>
              </a:rPr>
              <a:t>Соломахин Е. И., Мажаров А. В., Ишутов М. С.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accent4"/>
                </a:solidFill>
              </a:rPr>
              <a:t>Руководитель: </a:t>
            </a:r>
            <a:r>
              <a:rPr lang="en-US" sz="2000" dirty="0">
                <a:solidFill>
                  <a:schemeClr val="bg1"/>
                </a:solidFill>
              </a:rPr>
              <a:t>Плотникова Н. В.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accent4"/>
                </a:solidFill>
              </a:rPr>
              <a:t>Предприятие-заказчик: </a:t>
            </a:r>
            <a:r>
              <a:rPr lang="en-US" sz="2000" dirty="0">
                <a:solidFill>
                  <a:schemeClr val="bg1"/>
                </a:solidFill>
              </a:rPr>
              <a:t>ЧКПЗ (Челябинский кузнечно-прессовый завод)</a:t>
            </a:r>
            <a:endParaRPr lang="en-US" sz="2000" dirty="0"/>
          </a:p>
        </p:txBody>
      </p:sp>
      <p:sp>
        <p:nvSpPr>
          <p:cNvPr id="5" name="Волна 1"/>
          <p:cNvSpPr/>
          <p:nvPr/>
        </p:nvSpPr>
        <p:spPr>
          <a:xfrm>
            <a:off x="8823960" y="3200400"/>
            <a:ext cx="118872" cy="457200"/>
          </a:xfrm>
          <a:prstGeom prst="roundRect">
            <a:avLst>
              <a:gd name="adj" fmla="val 384615"/>
            </a:avLst>
          </a:prstGeom>
          <a:solidFill>
            <a:schemeClr val="accent1"/>
          </a:solidFill>
          <a:ln/>
        </p:spPr>
      </p:sp>
      <p:sp>
        <p:nvSpPr>
          <p:cNvPr id="6" name="Волна 2"/>
          <p:cNvSpPr/>
          <p:nvPr/>
        </p:nvSpPr>
        <p:spPr>
          <a:xfrm>
            <a:off x="9025128" y="2971800"/>
            <a:ext cx="118872" cy="91440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7" name="Волна 3"/>
          <p:cNvSpPr/>
          <p:nvPr/>
        </p:nvSpPr>
        <p:spPr>
          <a:xfrm>
            <a:off x="9226296" y="2651760"/>
            <a:ext cx="118872" cy="155448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8" name="Волна 4"/>
          <p:cNvSpPr/>
          <p:nvPr/>
        </p:nvSpPr>
        <p:spPr>
          <a:xfrm>
            <a:off x="9427464" y="2880360"/>
            <a:ext cx="118872" cy="1097280"/>
          </a:xfrm>
          <a:prstGeom prst="roundRect">
            <a:avLst>
              <a:gd name="adj" fmla="val 384615"/>
            </a:avLst>
          </a:prstGeom>
          <a:solidFill>
            <a:schemeClr val="accent1"/>
          </a:solidFill>
          <a:ln/>
        </p:spPr>
      </p:sp>
      <p:sp>
        <p:nvSpPr>
          <p:cNvPr id="9" name="Волна 5"/>
          <p:cNvSpPr/>
          <p:nvPr/>
        </p:nvSpPr>
        <p:spPr>
          <a:xfrm>
            <a:off x="9628632" y="2331720"/>
            <a:ext cx="118872" cy="219456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0" name="Волна 6"/>
          <p:cNvSpPr/>
          <p:nvPr/>
        </p:nvSpPr>
        <p:spPr>
          <a:xfrm>
            <a:off x="9829800" y="2057400"/>
            <a:ext cx="118872" cy="274320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1" name="Волна 7"/>
          <p:cNvSpPr/>
          <p:nvPr/>
        </p:nvSpPr>
        <p:spPr>
          <a:xfrm>
            <a:off x="10030968" y="2514600"/>
            <a:ext cx="118872" cy="1828800"/>
          </a:xfrm>
          <a:prstGeom prst="roundRect">
            <a:avLst>
              <a:gd name="adj" fmla="val 384615"/>
            </a:avLst>
          </a:prstGeom>
          <a:solidFill>
            <a:schemeClr val="accent1"/>
          </a:solidFill>
          <a:ln/>
        </p:spPr>
      </p:sp>
      <p:sp>
        <p:nvSpPr>
          <p:cNvPr id="12" name="Волна 8"/>
          <p:cNvSpPr/>
          <p:nvPr/>
        </p:nvSpPr>
        <p:spPr>
          <a:xfrm>
            <a:off x="10232136" y="2148840"/>
            <a:ext cx="118872" cy="256032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3" name="Волна 9"/>
          <p:cNvSpPr/>
          <p:nvPr/>
        </p:nvSpPr>
        <p:spPr>
          <a:xfrm>
            <a:off x="10433304" y="2788920"/>
            <a:ext cx="118872" cy="128016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4" name="Волна 10"/>
          <p:cNvSpPr/>
          <p:nvPr/>
        </p:nvSpPr>
        <p:spPr>
          <a:xfrm>
            <a:off x="10634472" y="2423160"/>
            <a:ext cx="118872" cy="2011680"/>
          </a:xfrm>
          <a:prstGeom prst="roundRect">
            <a:avLst>
              <a:gd name="adj" fmla="val 384615"/>
            </a:avLst>
          </a:prstGeom>
          <a:solidFill>
            <a:schemeClr val="accent1"/>
          </a:solidFill>
          <a:ln/>
        </p:spPr>
      </p:sp>
      <p:sp>
        <p:nvSpPr>
          <p:cNvPr id="15" name="Волна 11"/>
          <p:cNvSpPr/>
          <p:nvPr/>
        </p:nvSpPr>
        <p:spPr>
          <a:xfrm>
            <a:off x="10835640" y="2971800"/>
            <a:ext cx="118872" cy="91440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6" name="Волна 12"/>
          <p:cNvSpPr/>
          <p:nvPr/>
        </p:nvSpPr>
        <p:spPr>
          <a:xfrm>
            <a:off x="11036808" y="2697480"/>
            <a:ext cx="118872" cy="146304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7" name="Волна 13"/>
          <p:cNvSpPr/>
          <p:nvPr/>
        </p:nvSpPr>
        <p:spPr>
          <a:xfrm>
            <a:off x="11237976" y="3063240"/>
            <a:ext cx="118872" cy="731520"/>
          </a:xfrm>
          <a:prstGeom prst="roundRect">
            <a:avLst>
              <a:gd name="adj" fmla="val 384615"/>
            </a:avLst>
          </a:prstGeom>
          <a:solidFill>
            <a:schemeClr val="accent1"/>
          </a:solidFill>
          <a:ln/>
        </p:spPr>
      </p:sp>
      <p:sp>
        <p:nvSpPr>
          <p:cNvPr id="18" name="Волна 14"/>
          <p:cNvSpPr/>
          <p:nvPr/>
        </p:nvSpPr>
        <p:spPr>
          <a:xfrm>
            <a:off x="11439144" y="3200400"/>
            <a:ext cx="118872" cy="45720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9" name="Волна 15"/>
          <p:cNvSpPr/>
          <p:nvPr/>
        </p:nvSpPr>
        <p:spPr>
          <a:xfrm>
            <a:off x="11640312" y="3246120"/>
            <a:ext cx="118872" cy="365760"/>
          </a:xfrm>
          <a:prstGeom prst="roundRect">
            <a:avLst>
              <a:gd name="adj" fmla="val 384615"/>
            </a:avLst>
          </a:prstGeom>
          <a:solidFill>
            <a:schemeClr val="accent2">
              <a:alpha val="85000"/>
            </a:scheme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Цель и задачи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Карточка цели"/>
          <p:cNvSpPr/>
          <p:nvPr/>
        </p:nvSpPr>
        <p:spPr>
          <a:xfrm>
            <a:off x="548640" y="1463040"/>
            <a:ext cx="4206240" cy="457200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4"/>
                </a:solidFill>
              </a:rPr>
              <a:t>ЦЕЛЬ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Рассмотреть архитектуры систем синтеза речи, определить области их применения на предприятии и сравнить решения (Yandex SpeechKit, ElevenLabs, openbmb/VoxCPM2).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Задачи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7" name="Номер 1"/>
          <p:cNvSpPr/>
          <p:nvPr/>
        </p:nvSpPr>
        <p:spPr>
          <a:xfrm>
            <a:off x="5212080" y="21396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Задача 1"/>
          <p:cNvSpPr txBox="1"/>
          <p:nvPr/>
        </p:nvSpPr>
        <p:spPr>
          <a:xfrm>
            <a:off x="5943600" y="21031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Изучить структуру систем синтеза речи и эволюцию подходов.</a:t>
            </a:r>
          </a:p>
        </p:txBody>
      </p:sp>
      <p:sp>
        <p:nvSpPr>
          <p:cNvPr id="9" name="Номер 2"/>
          <p:cNvSpPr/>
          <p:nvPr/>
        </p:nvSpPr>
        <p:spPr>
          <a:xfrm>
            <a:off x="5212080" y="29443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Задача 2"/>
          <p:cNvSpPr txBox="1"/>
          <p:nvPr/>
        </p:nvSpPr>
        <p:spPr>
          <a:xfrm>
            <a:off x="5943600" y="29077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Рассмотреть ключевые архитектуры: от Tacotron до гибридных и End-to-End моделей.</a:t>
            </a:r>
          </a:p>
        </p:txBody>
      </p:sp>
      <p:sp>
        <p:nvSpPr>
          <p:cNvPr id="11" name="Номер 3"/>
          <p:cNvSpPr/>
          <p:nvPr/>
        </p:nvSpPr>
        <p:spPr>
          <a:xfrm>
            <a:off x="5212080" y="3749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Задача 3"/>
          <p:cNvSpPr txBox="1"/>
          <p:nvPr/>
        </p:nvSpPr>
        <p:spPr>
          <a:xfrm>
            <a:off x="5943600" y="3712464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Описать метрики качества и нерешённые проблемы.</a:t>
            </a:r>
          </a:p>
        </p:txBody>
      </p:sp>
      <p:sp>
        <p:nvSpPr>
          <p:cNvPr id="13" name="Номер 4"/>
          <p:cNvSpPr/>
          <p:nvPr/>
        </p:nvSpPr>
        <p:spPr>
          <a:xfrm>
            <a:off x="5212080" y="455371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Задача 4"/>
          <p:cNvSpPr txBox="1"/>
          <p:nvPr/>
        </p:nvSpPr>
        <p:spPr>
          <a:xfrm>
            <a:off x="5943600" y="4517136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Определить сценарии применения синтеза речи на предприятии (ЧКПЗ).</a:t>
            </a:r>
          </a:p>
        </p:txBody>
      </p:sp>
      <p:sp>
        <p:nvSpPr>
          <p:cNvPr id="15" name="Номер 5"/>
          <p:cNvSpPr/>
          <p:nvPr/>
        </p:nvSpPr>
        <p:spPr>
          <a:xfrm>
            <a:off x="5212080" y="535838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Задача 5"/>
          <p:cNvSpPr txBox="1"/>
          <p:nvPr/>
        </p:nvSpPr>
        <p:spPr>
          <a:xfrm>
            <a:off x="5943600" y="532180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Сравнить системы по преимуществам, недостаткам и стоимости.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 smtClean="0">
                <a:solidFill>
                  <a:schemeClr val="bg1"/>
                </a:solidFill>
              </a:rPr>
              <a:t>Конвейер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 err="1" smtClean="0">
                <a:solidFill>
                  <a:schemeClr val="bg1"/>
                </a:solidFill>
              </a:rPr>
              <a:t>системы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 err="1" smtClean="0">
                <a:solidFill>
                  <a:schemeClr val="bg1"/>
                </a:solidFill>
              </a:rPr>
              <a:t>синтеза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 err="1" smtClean="0">
                <a:solidFill>
                  <a:schemeClr val="bg1"/>
                </a:solidFill>
              </a:rPr>
              <a:t>речи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</a:rPr>
              <a:t>- </a:t>
            </a:r>
            <a:r>
              <a:rPr lang="en-US" sz="3600" b="1" dirty="0" err="1" smtClean="0">
                <a:solidFill>
                  <a:schemeClr val="bg1"/>
                </a:solidFill>
              </a:rPr>
              <a:t>Этап</a:t>
            </a:r>
            <a:r>
              <a:rPr lang="en-US" sz="3600" b="1" dirty="0" smtClean="0">
                <a:solidFill>
                  <a:schemeClr val="bg1"/>
                </a:solidFill>
              </a:rPr>
              <a:t> 1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Этап 1"/>
          <p:cNvSpPr/>
          <p:nvPr/>
        </p:nvSpPr>
        <p:spPr>
          <a:xfrm>
            <a:off x="5486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 · Обработка текста (NLP)</a:t>
            </a:r>
            <a:endParaRPr lang="en-US" sz="2000" dirty="0"/>
          </a:p>
        </p:txBody>
      </p:sp>
      <p:sp>
        <p:nvSpPr>
          <p:cNvPr id="4" name="Стрелка"/>
          <p:cNvSpPr txBox="1"/>
          <p:nvPr/>
        </p:nvSpPr>
        <p:spPr>
          <a:xfrm>
            <a:off x="38404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-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Этап 2"/>
          <p:cNvSpPr/>
          <p:nvPr/>
        </p:nvSpPr>
        <p:spPr>
          <a:xfrm>
            <a:off x="44348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2 · Акустическая модель</a:t>
            </a:r>
          </a:p>
        </p:txBody>
      </p:sp>
      <p:sp>
        <p:nvSpPr>
          <p:cNvPr id="6" name="Стрелка"/>
          <p:cNvSpPr txBox="1"/>
          <p:nvPr/>
        </p:nvSpPr>
        <p:spPr>
          <a:xfrm>
            <a:off x="77266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-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Этап 3"/>
          <p:cNvSpPr/>
          <p:nvPr/>
        </p:nvSpPr>
        <p:spPr>
          <a:xfrm>
            <a:off x="83210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3 · Вокодер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chemeClr val="bg1"/>
                </a:solidFill>
              </a:rPr>
              <a:t>Текст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ru-RU" sz="2400" b="1" dirty="0" smtClean="0">
                <a:solidFill>
                  <a:schemeClr val="bg1"/>
                </a:solidFill>
              </a:rPr>
              <a:t>-</a:t>
            </a:r>
            <a:r>
              <a:rPr lang="en-US" sz="2200" b="1" dirty="0" smtClean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Обработка естественного языка (NLP)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Список NLP"/>
          <p:cNvSpPr txBox="1"/>
          <p:nvPr/>
        </p:nvSpPr>
        <p:spPr>
          <a:xfrm>
            <a:off x="548640" y="324612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Перевод графем в фонемы (например: «4» </a:t>
            </a:r>
            <a:r>
              <a:rPr lang="ru-RU" sz="2400" dirty="0" smtClean="0">
                <a:solidFill>
                  <a:schemeClr val="bg1"/>
                </a:solidFill>
              </a:rPr>
              <a:t>-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«четыре», «молоко» </a:t>
            </a:r>
            <a:r>
              <a:rPr lang="ru-RU" sz="2400" dirty="0" smtClean="0">
                <a:solidFill>
                  <a:schemeClr val="bg1"/>
                </a:solidFill>
              </a:rPr>
              <a:t>-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«малако»)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Автоматическая расстановка ударений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Определение границ предложений и пауз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Анализ эмоций и интонации</a:t>
            </a:r>
          </a:p>
        </p:txBody>
      </p:sp>
      <p:sp>
        <p:nvSpPr>
          <p:cNvPr id="11" name="Карточка SSML"/>
          <p:cNvSpPr/>
          <p:nvPr/>
        </p:nvSpPr>
        <p:spPr>
          <a:xfrm>
            <a:off x="6309360" y="2788920"/>
            <a:ext cx="530352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accent4"/>
                </a:solidFill>
              </a:rPr>
              <a:t>ПРИМЕР С SSML-РАЗМЕТКОЙ</a:t>
            </a:r>
            <a:endParaRPr lang="en-US" dirty="0"/>
          </a:p>
        </p:txBody>
      </p:sp>
      <p:sp>
        <p:nvSpPr>
          <p:cNvPr id="13" name="Код SSML"/>
          <p:cNvSpPr txBox="1"/>
          <p:nvPr/>
        </p:nvSpPr>
        <p:spPr>
          <a:xfrm>
            <a:off x="6583680" y="3474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&lt;speak&gt;Ура&lt;break time="500ms"/&gt;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мы победили в этом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&lt;emphasis level="strong"&gt;замО́ке&lt;/emphasis&gt;&lt;/speak&gt;</a:t>
            </a:r>
            <a:endParaRPr lang="en-US" dirty="0"/>
          </a:p>
        </p:txBody>
      </p:sp>
      <p:sp>
        <p:nvSpPr>
          <p:cNvPr id="15" name="Этап 3"/>
          <p:cNvSpPr/>
          <p:nvPr/>
        </p:nvSpPr>
        <p:spPr>
          <a:xfrm>
            <a:off x="621527" y="2580198"/>
            <a:ext cx="4715785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 err="1">
                <a:solidFill>
                  <a:schemeClr val="accent1"/>
                </a:solidFill>
              </a:rPr>
              <a:t>Нормализация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текста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под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речь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Конвейер системы синтеза </a:t>
            </a:r>
            <a:r>
              <a:rPr lang="en-US" sz="3600" b="1" dirty="0" err="1">
                <a:solidFill>
                  <a:schemeClr val="bg1"/>
                </a:solidFill>
              </a:rPr>
              <a:t>речи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</a:rPr>
              <a:t>-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Этап 2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Этап 1"/>
          <p:cNvSpPr/>
          <p:nvPr/>
        </p:nvSpPr>
        <p:spPr>
          <a:xfrm>
            <a:off x="5486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1 · Обработка текста (NLP)</a:t>
            </a:r>
          </a:p>
        </p:txBody>
      </p:sp>
      <p:sp>
        <p:nvSpPr>
          <p:cNvPr id="4" name="Стрелка"/>
          <p:cNvSpPr txBox="1"/>
          <p:nvPr/>
        </p:nvSpPr>
        <p:spPr>
          <a:xfrm>
            <a:off x="38404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dirty="0" smtClean="0">
                <a:solidFill>
                  <a:schemeClr val="bg1"/>
                </a:solidFill>
              </a:rPr>
              <a:t>-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Этап 2"/>
          <p:cNvSpPr/>
          <p:nvPr/>
        </p:nvSpPr>
        <p:spPr>
          <a:xfrm>
            <a:off x="44348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 · Акустическая модель</a:t>
            </a:r>
            <a:endParaRPr lang="en-US" sz="2000" dirty="0"/>
          </a:p>
        </p:txBody>
      </p:sp>
      <p:sp>
        <p:nvSpPr>
          <p:cNvPr id="6" name="Стрелка"/>
          <p:cNvSpPr txBox="1"/>
          <p:nvPr/>
        </p:nvSpPr>
        <p:spPr>
          <a:xfrm>
            <a:off x="77266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-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Этап 3"/>
          <p:cNvSpPr/>
          <p:nvPr/>
        </p:nvSpPr>
        <p:spPr>
          <a:xfrm>
            <a:off x="83210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3 · Вокодер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bg1"/>
                </a:solidFill>
              </a:rPr>
              <a:t>Фонемы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ru-RU" sz="2200" b="1" dirty="0" smtClean="0">
                <a:solidFill>
                  <a:schemeClr val="bg1"/>
                </a:solidFill>
              </a:rPr>
              <a:t>-</a:t>
            </a:r>
            <a:r>
              <a:rPr lang="en-US" sz="2200" b="1" dirty="0" smtClean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Акустическая </a:t>
            </a:r>
            <a:r>
              <a:rPr lang="en-US" sz="2200" b="1" dirty="0" err="1">
                <a:solidFill>
                  <a:schemeClr val="bg1"/>
                </a:solidFill>
              </a:rPr>
              <a:t>модель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ru-RU" sz="2200" b="1" dirty="0" smtClean="0">
                <a:solidFill>
                  <a:schemeClr val="bg1"/>
                </a:solidFill>
              </a:rPr>
              <a:t>-</a:t>
            </a:r>
            <a:r>
              <a:rPr lang="en-US" sz="2200" b="1" dirty="0" smtClean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Мел-спектрограмма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Список акустической модели"/>
          <p:cNvSpPr txBox="1"/>
          <p:nvPr/>
        </p:nvSpPr>
        <p:spPr>
          <a:xfrm>
            <a:off x="548640" y="315468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Принимает на вход последовательность фонемных векторов.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Отдаёт мел-спектрограмму (визуальное представление частот, воспринимаемых человеческим ухом).</a:t>
            </a: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Определяет громкость и частотные характеристики будущего звука.</a:t>
            </a:r>
          </a:p>
        </p:txBody>
      </p:sp>
      <p:sp>
        <p:nvSpPr>
          <p:cNvPr id="11" name="Карточка проблемы"/>
          <p:cNvSpPr/>
          <p:nvPr/>
        </p:nvSpPr>
        <p:spPr>
          <a:xfrm>
            <a:off x="548640" y="516636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2" name="Текст проблемы"/>
          <p:cNvSpPr txBox="1"/>
          <p:nvPr/>
        </p:nvSpPr>
        <p:spPr>
          <a:xfrm>
            <a:off x="777240" y="5257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Проблема классических моделей: </a:t>
            </a:r>
            <a:r>
              <a:rPr lang="en-US" sz="1500" dirty="0">
                <a:solidFill>
                  <a:schemeClr val="tx1"/>
                </a:solidFill>
              </a:rPr>
              <a:t>спектрограмма отображает данные окнами, что может терять микродетали звука.</a:t>
            </a:r>
            <a:endParaRPr lang="en-US" sz="1500" dirty="0"/>
          </a:p>
        </p:txBody>
      </p:sp>
      <p:sp>
        <p:nvSpPr>
          <p:cNvPr id="13" name="Карточка спектрограммы"/>
          <p:cNvSpPr/>
          <p:nvPr/>
        </p:nvSpPr>
        <p:spPr>
          <a:xfrm>
            <a:off x="6309360" y="2743200"/>
            <a:ext cx="530352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Мел-спектрограмма: время × частота</a:t>
            </a:r>
            <a:endParaRPr lang="en-US" sz="1400" dirty="0"/>
          </a:p>
        </p:txBody>
      </p:sp>
      <p:sp>
        <p:nvSpPr>
          <p:cNvPr id="15" name="Ячейка 0-0"/>
          <p:cNvSpPr/>
          <p:nvPr/>
        </p:nvSpPr>
        <p:spPr>
          <a:xfrm>
            <a:off x="6629400" y="3337560"/>
            <a:ext cx="210312" cy="246888"/>
          </a:xfrm>
          <a:prstGeom prst="rect">
            <a:avLst/>
          </a:prstGeom>
          <a:solidFill>
            <a:schemeClr val="accent2">
              <a:alpha val="48000"/>
            </a:schemeClr>
          </a:solidFill>
          <a:ln/>
        </p:spPr>
      </p:sp>
      <p:sp>
        <p:nvSpPr>
          <p:cNvPr id="16" name="Ячейка 0-1"/>
          <p:cNvSpPr/>
          <p:nvPr/>
        </p:nvSpPr>
        <p:spPr>
          <a:xfrm>
            <a:off x="6867144" y="3337560"/>
            <a:ext cx="210312" cy="246888"/>
          </a:xfrm>
          <a:prstGeom prst="rect">
            <a:avLst/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17" name="Ячейка 0-2"/>
          <p:cNvSpPr/>
          <p:nvPr/>
        </p:nvSpPr>
        <p:spPr>
          <a:xfrm>
            <a:off x="7104888" y="3337560"/>
            <a:ext cx="210312" cy="246888"/>
          </a:xfrm>
          <a:prstGeom prst="rect">
            <a:avLst/>
          </a:prstGeom>
          <a:solidFill>
            <a:schemeClr val="accent2">
              <a:alpha val="93000"/>
            </a:schemeClr>
          </a:solidFill>
          <a:ln/>
        </p:spPr>
      </p:sp>
      <p:sp>
        <p:nvSpPr>
          <p:cNvPr id="18" name="Ячейка 0-3"/>
          <p:cNvSpPr/>
          <p:nvPr/>
        </p:nvSpPr>
        <p:spPr>
          <a:xfrm>
            <a:off x="7342632" y="3337560"/>
            <a:ext cx="210312" cy="246888"/>
          </a:xfrm>
          <a:prstGeom prst="rect">
            <a:avLst/>
          </a:prstGeom>
          <a:solidFill>
            <a:schemeClr val="accent2">
              <a:alpha val="95000"/>
            </a:schemeClr>
          </a:solidFill>
          <a:ln/>
        </p:spPr>
      </p:sp>
      <p:sp>
        <p:nvSpPr>
          <p:cNvPr id="19" name="Ячейка 0-4"/>
          <p:cNvSpPr/>
          <p:nvPr/>
        </p:nvSpPr>
        <p:spPr>
          <a:xfrm>
            <a:off x="7580376" y="3337560"/>
            <a:ext cx="210312" cy="246888"/>
          </a:xfrm>
          <a:prstGeom prst="rect">
            <a:avLst/>
          </a:prstGeom>
          <a:solidFill>
            <a:schemeClr val="accent2">
              <a:alpha val="87000"/>
            </a:schemeClr>
          </a:solidFill>
          <a:ln/>
        </p:spPr>
      </p:sp>
      <p:sp>
        <p:nvSpPr>
          <p:cNvPr id="20" name="Ячейка 0-5"/>
          <p:cNvSpPr/>
          <p:nvPr/>
        </p:nvSpPr>
        <p:spPr>
          <a:xfrm>
            <a:off x="7818120" y="3337560"/>
            <a:ext cx="210312" cy="246888"/>
          </a:xfrm>
          <a:prstGeom prst="rect">
            <a:avLst/>
          </a:prstGeom>
          <a:solidFill>
            <a:schemeClr val="accent2">
              <a:alpha val="69000"/>
            </a:schemeClr>
          </a:solidFill>
          <a:ln/>
        </p:spPr>
      </p:sp>
      <p:sp>
        <p:nvSpPr>
          <p:cNvPr id="21" name="Ячейка 0-6"/>
          <p:cNvSpPr/>
          <p:nvPr/>
        </p:nvSpPr>
        <p:spPr>
          <a:xfrm>
            <a:off x="8055864" y="3337560"/>
            <a:ext cx="210312" cy="246888"/>
          </a:xfrm>
          <a:prstGeom prst="rect">
            <a:avLst/>
          </a:prstGeom>
          <a:solidFill>
            <a:schemeClr val="accent2">
              <a:alpha val="53000"/>
            </a:schemeClr>
          </a:solidFill>
          <a:ln/>
        </p:spPr>
      </p:sp>
      <p:sp>
        <p:nvSpPr>
          <p:cNvPr id="22" name="Ячейка 0-7"/>
          <p:cNvSpPr/>
          <p:nvPr/>
        </p:nvSpPr>
        <p:spPr>
          <a:xfrm>
            <a:off x="8293608" y="3337560"/>
            <a:ext cx="210312" cy="246888"/>
          </a:xfrm>
          <a:prstGeom prst="rect">
            <a:avLst/>
          </a:prstGeom>
          <a:solidFill>
            <a:schemeClr val="accent2">
              <a:alpha val="44000"/>
            </a:schemeClr>
          </a:solidFill>
          <a:ln/>
        </p:spPr>
      </p:sp>
      <p:sp>
        <p:nvSpPr>
          <p:cNvPr id="23" name="Ячейка 0-8"/>
          <p:cNvSpPr/>
          <p:nvPr/>
        </p:nvSpPr>
        <p:spPr>
          <a:xfrm>
            <a:off x="8531352" y="3337560"/>
            <a:ext cx="210312" cy="246888"/>
          </a:xfrm>
          <a:prstGeom prst="rect">
            <a:avLst/>
          </a:prstGeom>
          <a:solidFill>
            <a:schemeClr val="accent2">
              <a:alpha val="46000"/>
            </a:schemeClr>
          </a:solidFill>
          <a:ln/>
        </p:spPr>
      </p:sp>
      <p:sp>
        <p:nvSpPr>
          <p:cNvPr id="24" name="Ячейка 0-9"/>
          <p:cNvSpPr/>
          <p:nvPr/>
        </p:nvSpPr>
        <p:spPr>
          <a:xfrm>
            <a:off x="8769096" y="3337560"/>
            <a:ext cx="210312" cy="246888"/>
          </a:xfrm>
          <a:prstGeom prst="rect">
            <a:avLst/>
          </a:prstGeom>
          <a:solidFill>
            <a:schemeClr val="accent2">
              <a:alpha val="54000"/>
            </a:schemeClr>
          </a:solidFill>
          <a:ln/>
        </p:spPr>
      </p:sp>
      <p:sp>
        <p:nvSpPr>
          <p:cNvPr id="25" name="Ячейка 0-10"/>
          <p:cNvSpPr/>
          <p:nvPr/>
        </p:nvSpPr>
        <p:spPr>
          <a:xfrm>
            <a:off x="9006840" y="3337560"/>
            <a:ext cx="210312" cy="246888"/>
          </a:xfrm>
          <a:prstGeom prst="rect">
            <a:avLst/>
          </a:prstGeom>
          <a:solidFill>
            <a:schemeClr val="accent2">
              <a:alpha val="61000"/>
            </a:schemeClr>
          </a:solidFill>
          <a:ln/>
        </p:spPr>
      </p:sp>
      <p:sp>
        <p:nvSpPr>
          <p:cNvPr id="26" name="Ячейка 0-11"/>
          <p:cNvSpPr/>
          <p:nvPr/>
        </p:nvSpPr>
        <p:spPr>
          <a:xfrm>
            <a:off x="9244584" y="3337560"/>
            <a:ext cx="210312" cy="246888"/>
          </a:xfrm>
          <a:prstGeom prst="rect">
            <a:avLst/>
          </a:prstGeom>
          <a:solidFill>
            <a:schemeClr val="accent2">
              <a:alpha val="60000"/>
            </a:schemeClr>
          </a:solidFill>
          <a:ln/>
        </p:spPr>
      </p:sp>
      <p:sp>
        <p:nvSpPr>
          <p:cNvPr id="27" name="Ячейка 0-12"/>
          <p:cNvSpPr/>
          <p:nvPr/>
        </p:nvSpPr>
        <p:spPr>
          <a:xfrm>
            <a:off x="9482328" y="3337560"/>
            <a:ext cx="210312" cy="246888"/>
          </a:xfrm>
          <a:prstGeom prst="rect">
            <a:avLst/>
          </a:prstGeom>
          <a:solidFill>
            <a:schemeClr val="accent2">
              <a:alpha val="49000"/>
            </a:schemeClr>
          </a:solidFill>
          <a:ln/>
        </p:spPr>
      </p:sp>
      <p:sp>
        <p:nvSpPr>
          <p:cNvPr id="28" name="Ячейка 0-13"/>
          <p:cNvSpPr/>
          <p:nvPr/>
        </p:nvSpPr>
        <p:spPr>
          <a:xfrm>
            <a:off x="9720072" y="3337560"/>
            <a:ext cx="210312" cy="246888"/>
          </a:xfrm>
          <a:prstGeom prst="rect">
            <a:avLst/>
          </a:prstGeom>
          <a:solidFill>
            <a:schemeClr val="accent2">
              <a:alpha val="29000"/>
            </a:schemeClr>
          </a:solidFill>
          <a:ln/>
        </p:spPr>
      </p:sp>
      <p:sp>
        <p:nvSpPr>
          <p:cNvPr id="29" name="Ячейка 0-14"/>
          <p:cNvSpPr/>
          <p:nvPr/>
        </p:nvSpPr>
        <p:spPr>
          <a:xfrm>
            <a:off x="9957816" y="3337560"/>
            <a:ext cx="210312" cy="246888"/>
          </a:xfrm>
          <a:prstGeom prst="rect">
            <a:avLst/>
          </a:prstGeom>
          <a:solidFill>
            <a:schemeClr val="accent2">
              <a:alpha val="7000"/>
            </a:schemeClr>
          </a:solidFill>
          <a:ln/>
        </p:spPr>
      </p:sp>
      <p:sp>
        <p:nvSpPr>
          <p:cNvPr id="30" name="Ячейка 0-15"/>
          <p:cNvSpPr/>
          <p:nvPr/>
        </p:nvSpPr>
        <p:spPr>
          <a:xfrm>
            <a:off x="10195560" y="3337560"/>
            <a:ext cx="210312" cy="246888"/>
          </a:xfrm>
          <a:prstGeom prst="rect">
            <a:avLst/>
          </a:prstGeom>
          <a:solidFill>
            <a:schemeClr val="accent2">
              <a:alpha val="5000"/>
            </a:schemeClr>
          </a:solidFill>
          <a:ln/>
        </p:spPr>
      </p:sp>
      <p:sp>
        <p:nvSpPr>
          <p:cNvPr id="31" name="Ячейка 0-16"/>
          <p:cNvSpPr/>
          <p:nvPr/>
        </p:nvSpPr>
        <p:spPr>
          <a:xfrm>
            <a:off x="10433304" y="3337560"/>
            <a:ext cx="210312" cy="246888"/>
          </a:xfrm>
          <a:prstGeom prst="rect">
            <a:avLst/>
          </a:prstGeom>
          <a:solidFill>
            <a:schemeClr val="accent2">
              <a:alpha val="5000"/>
            </a:schemeClr>
          </a:solidFill>
          <a:ln/>
        </p:spPr>
      </p:sp>
      <p:sp>
        <p:nvSpPr>
          <p:cNvPr id="32" name="Ячейка 0-17"/>
          <p:cNvSpPr/>
          <p:nvPr/>
        </p:nvSpPr>
        <p:spPr>
          <a:xfrm>
            <a:off x="10671048" y="3337560"/>
            <a:ext cx="210312" cy="246888"/>
          </a:xfrm>
          <a:prstGeom prst="rect">
            <a:avLst/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3" name="Ячейка 0-18"/>
          <p:cNvSpPr/>
          <p:nvPr/>
        </p:nvSpPr>
        <p:spPr>
          <a:xfrm>
            <a:off x="10908792" y="3337560"/>
            <a:ext cx="210312" cy="246888"/>
          </a:xfrm>
          <a:prstGeom prst="rect">
            <a:avLst/>
          </a:prstGeom>
          <a:solidFill>
            <a:schemeClr val="accent2">
              <a:alpha val="39000"/>
            </a:schemeClr>
          </a:solidFill>
          <a:ln/>
        </p:spPr>
      </p:sp>
      <p:sp>
        <p:nvSpPr>
          <p:cNvPr id="34" name="Ячейка 0-19"/>
          <p:cNvSpPr/>
          <p:nvPr/>
        </p:nvSpPr>
        <p:spPr>
          <a:xfrm>
            <a:off x="11146536" y="3337560"/>
            <a:ext cx="210312" cy="246888"/>
          </a:xfrm>
          <a:prstGeom prst="rect">
            <a:avLst/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35" name="Ячейка 1-0"/>
          <p:cNvSpPr/>
          <p:nvPr/>
        </p:nvSpPr>
        <p:spPr>
          <a:xfrm>
            <a:off x="6629400" y="3611880"/>
            <a:ext cx="210312" cy="246888"/>
          </a:xfrm>
          <a:prstGeom prst="rect">
            <a:avLst/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36" name="Ячейка 1-1"/>
          <p:cNvSpPr/>
          <p:nvPr/>
        </p:nvSpPr>
        <p:spPr>
          <a:xfrm>
            <a:off x="6867144" y="3611880"/>
            <a:ext cx="210312" cy="246888"/>
          </a:xfrm>
          <a:prstGeom prst="rect">
            <a:avLst/>
          </a:prstGeom>
          <a:solidFill>
            <a:schemeClr val="accent2">
              <a:alpha val="86000"/>
            </a:schemeClr>
          </a:solidFill>
          <a:ln/>
        </p:spPr>
      </p:sp>
      <p:sp>
        <p:nvSpPr>
          <p:cNvPr id="37" name="Ячейка 1-2"/>
          <p:cNvSpPr/>
          <p:nvPr/>
        </p:nvSpPr>
        <p:spPr>
          <a:xfrm>
            <a:off x="7104888" y="3611880"/>
            <a:ext cx="210312" cy="246888"/>
          </a:xfrm>
          <a:prstGeom prst="rect">
            <a:avLst/>
          </a:prstGeom>
          <a:solidFill>
            <a:schemeClr val="accent2">
              <a:alpha val="95000"/>
            </a:schemeClr>
          </a:solidFill>
          <a:ln/>
        </p:spPr>
      </p:sp>
      <p:sp>
        <p:nvSpPr>
          <p:cNvPr id="38" name="Ячейка 1-3"/>
          <p:cNvSpPr/>
          <p:nvPr/>
        </p:nvSpPr>
        <p:spPr>
          <a:xfrm>
            <a:off x="7342632" y="3611880"/>
            <a:ext cx="210312" cy="246888"/>
          </a:xfrm>
          <a:prstGeom prst="rect">
            <a:avLst/>
          </a:prstGeom>
          <a:solidFill>
            <a:schemeClr val="accent2">
              <a:alpha val="91000"/>
            </a:schemeClr>
          </a:solidFill>
          <a:ln/>
        </p:spPr>
      </p:sp>
      <p:sp>
        <p:nvSpPr>
          <p:cNvPr id="39" name="Ячейка 1-4"/>
          <p:cNvSpPr/>
          <p:nvPr/>
        </p:nvSpPr>
        <p:spPr>
          <a:xfrm>
            <a:off x="7580376" y="3611880"/>
            <a:ext cx="210312" cy="246888"/>
          </a:xfrm>
          <a:prstGeom prst="rect">
            <a:avLst/>
          </a:prstGeom>
          <a:solidFill>
            <a:schemeClr val="accent2">
              <a:alpha val="74000"/>
            </a:schemeClr>
          </a:solidFill>
          <a:ln/>
        </p:spPr>
      </p:sp>
      <p:sp>
        <p:nvSpPr>
          <p:cNvPr id="40" name="Ячейка 1-5"/>
          <p:cNvSpPr/>
          <p:nvPr/>
        </p:nvSpPr>
        <p:spPr>
          <a:xfrm>
            <a:off x="7818120" y="3611880"/>
            <a:ext cx="210312" cy="246888"/>
          </a:xfrm>
          <a:prstGeom prst="rect">
            <a:avLst/>
          </a:prstGeom>
          <a:solidFill>
            <a:schemeClr val="accent2">
              <a:alpha val="51000"/>
            </a:schemeClr>
          </a:solidFill>
          <a:ln/>
        </p:spPr>
      </p:sp>
      <p:sp>
        <p:nvSpPr>
          <p:cNvPr id="41" name="Ячейка 1-6"/>
          <p:cNvSpPr/>
          <p:nvPr/>
        </p:nvSpPr>
        <p:spPr>
          <a:xfrm>
            <a:off x="8055864" y="3611880"/>
            <a:ext cx="210312" cy="246888"/>
          </a:xfrm>
          <a:prstGeom prst="rect">
            <a:avLst/>
          </a:prstGeom>
          <a:solidFill>
            <a:schemeClr val="accent2">
              <a:alpha val="31000"/>
            </a:schemeClr>
          </a:solidFill>
          <a:ln/>
        </p:spPr>
      </p:sp>
      <p:sp>
        <p:nvSpPr>
          <p:cNvPr id="42" name="Ячейка 1-7"/>
          <p:cNvSpPr/>
          <p:nvPr/>
        </p:nvSpPr>
        <p:spPr>
          <a:xfrm>
            <a:off x="8293608" y="3611880"/>
            <a:ext cx="210312" cy="246888"/>
          </a:xfrm>
          <a:prstGeom prst="rect">
            <a:avLst/>
          </a:prstGeom>
          <a:solidFill>
            <a:schemeClr val="accent2">
              <a:alpha val="19000"/>
            </a:schemeClr>
          </a:solidFill>
          <a:ln/>
        </p:spPr>
      </p:sp>
      <p:sp>
        <p:nvSpPr>
          <p:cNvPr id="43" name="Ячейка 1-8"/>
          <p:cNvSpPr/>
          <p:nvPr/>
        </p:nvSpPr>
        <p:spPr>
          <a:xfrm>
            <a:off x="8531352" y="3611880"/>
            <a:ext cx="210312" cy="246888"/>
          </a:xfrm>
          <a:prstGeom prst="rect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4" name="Ячейка 1-9"/>
          <p:cNvSpPr/>
          <p:nvPr/>
        </p:nvSpPr>
        <p:spPr>
          <a:xfrm>
            <a:off x="8769096" y="3611880"/>
            <a:ext cx="210312" cy="246888"/>
          </a:xfrm>
          <a:prstGeom prst="rect">
            <a:avLst/>
          </a:prstGeom>
          <a:solidFill>
            <a:schemeClr val="accent2">
              <a:alpha val="26000"/>
            </a:schemeClr>
          </a:solidFill>
          <a:ln/>
        </p:spPr>
      </p:sp>
      <p:sp>
        <p:nvSpPr>
          <p:cNvPr id="45" name="Ячейка 1-10"/>
          <p:cNvSpPr/>
          <p:nvPr/>
        </p:nvSpPr>
        <p:spPr>
          <a:xfrm>
            <a:off x="9006840" y="3611880"/>
            <a:ext cx="210312" cy="246888"/>
          </a:xfrm>
          <a:prstGeom prst="rect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46" name="Ячейка 1-11"/>
          <p:cNvSpPr/>
          <p:nvPr/>
        </p:nvSpPr>
        <p:spPr>
          <a:xfrm>
            <a:off x="9244584" y="3611880"/>
            <a:ext cx="210312" cy="246888"/>
          </a:xfrm>
          <a:prstGeom prst="rect">
            <a:avLst/>
          </a:prstGeom>
          <a:solidFill>
            <a:schemeClr val="accent2">
              <a:alpha val="40000"/>
            </a:schemeClr>
          </a:solidFill>
          <a:ln/>
        </p:spPr>
      </p:sp>
      <p:sp>
        <p:nvSpPr>
          <p:cNvPr id="47" name="Ячейка 1-12"/>
          <p:cNvSpPr/>
          <p:nvPr/>
        </p:nvSpPr>
        <p:spPr>
          <a:xfrm>
            <a:off x="9482328" y="3611880"/>
            <a:ext cx="210312" cy="246888"/>
          </a:xfrm>
          <a:prstGeom prst="rect">
            <a:avLst/>
          </a:prstGeom>
          <a:solidFill>
            <a:schemeClr val="accent2">
              <a:alpha val="36000"/>
            </a:schemeClr>
          </a:solidFill>
          <a:ln/>
        </p:spPr>
      </p:sp>
      <p:sp>
        <p:nvSpPr>
          <p:cNvPr id="48" name="Ячейка 1-13"/>
          <p:cNvSpPr/>
          <p:nvPr/>
        </p:nvSpPr>
        <p:spPr>
          <a:xfrm>
            <a:off x="9720072" y="3611880"/>
            <a:ext cx="210312" cy="246888"/>
          </a:xfrm>
          <a:prstGeom prst="rect">
            <a:avLst/>
          </a:prstGeom>
          <a:solidFill>
            <a:schemeClr val="accent2">
              <a:alpha val="27000"/>
            </a:schemeClr>
          </a:solidFill>
          <a:ln/>
        </p:spPr>
      </p:sp>
      <p:sp>
        <p:nvSpPr>
          <p:cNvPr id="49" name="Ячейка 1-14"/>
          <p:cNvSpPr/>
          <p:nvPr/>
        </p:nvSpPr>
        <p:spPr>
          <a:xfrm>
            <a:off x="9957816" y="3611880"/>
            <a:ext cx="210312" cy="246888"/>
          </a:xfrm>
          <a:prstGeom prst="rect">
            <a:avLst/>
          </a:prstGeom>
          <a:solidFill>
            <a:schemeClr val="accent2">
              <a:alpha val="16000"/>
            </a:schemeClr>
          </a:solidFill>
          <a:ln/>
        </p:spPr>
      </p:sp>
      <p:sp>
        <p:nvSpPr>
          <p:cNvPr id="50" name="Ячейка 1-15"/>
          <p:cNvSpPr/>
          <p:nvPr/>
        </p:nvSpPr>
        <p:spPr>
          <a:xfrm>
            <a:off x="10195560" y="3611880"/>
            <a:ext cx="210312" cy="246888"/>
          </a:xfrm>
          <a:prstGeom prst="rect">
            <a:avLst/>
          </a:prstGeom>
          <a:solidFill>
            <a:schemeClr val="accent2">
              <a:alpha val="11000"/>
            </a:schemeClr>
          </a:solidFill>
          <a:ln/>
        </p:spPr>
      </p:sp>
      <p:sp>
        <p:nvSpPr>
          <p:cNvPr id="51" name="Ячейка 1-16"/>
          <p:cNvSpPr/>
          <p:nvPr/>
        </p:nvSpPr>
        <p:spPr>
          <a:xfrm>
            <a:off x="10433304" y="3611880"/>
            <a:ext cx="210312" cy="246888"/>
          </a:xfrm>
          <a:prstGeom prst="rect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52" name="Ячейка 1-17"/>
          <p:cNvSpPr/>
          <p:nvPr/>
        </p:nvSpPr>
        <p:spPr>
          <a:xfrm>
            <a:off x="10671048" y="3611880"/>
            <a:ext cx="210312" cy="246888"/>
          </a:xfrm>
          <a:prstGeom prst="rect">
            <a:avLst/>
          </a:prstGeom>
          <a:solidFill>
            <a:schemeClr val="accent2">
              <a:alpha val="36000"/>
            </a:schemeClr>
          </a:solidFill>
          <a:ln/>
        </p:spPr>
      </p:sp>
      <p:sp>
        <p:nvSpPr>
          <p:cNvPr id="53" name="Ячейка 1-18"/>
          <p:cNvSpPr/>
          <p:nvPr/>
        </p:nvSpPr>
        <p:spPr>
          <a:xfrm>
            <a:off x="10908792" y="3611880"/>
            <a:ext cx="210312" cy="246888"/>
          </a:xfrm>
          <a:prstGeom prst="rect">
            <a:avLst/>
          </a:prstGeom>
          <a:solidFill>
            <a:schemeClr val="accent2">
              <a:alpha val="59000"/>
            </a:schemeClr>
          </a:solidFill>
          <a:ln/>
        </p:spPr>
      </p:sp>
      <p:sp>
        <p:nvSpPr>
          <p:cNvPr id="54" name="Ячейка 1-19"/>
          <p:cNvSpPr/>
          <p:nvPr/>
        </p:nvSpPr>
        <p:spPr>
          <a:xfrm>
            <a:off x="11146536" y="3611880"/>
            <a:ext cx="210312" cy="246888"/>
          </a:xfrm>
          <a:prstGeom prst="rect">
            <a:avLst/>
          </a:prstGeom>
          <a:solidFill>
            <a:schemeClr val="accent2">
              <a:alpha val="81000"/>
            </a:schemeClr>
          </a:solidFill>
          <a:ln/>
        </p:spPr>
      </p:sp>
      <p:sp>
        <p:nvSpPr>
          <p:cNvPr id="55" name="Ячейка 2-0"/>
          <p:cNvSpPr/>
          <p:nvPr/>
        </p:nvSpPr>
        <p:spPr>
          <a:xfrm>
            <a:off x="6629400" y="3886200"/>
            <a:ext cx="210312" cy="246888"/>
          </a:xfrm>
          <a:prstGeom prst="rect">
            <a:avLst/>
          </a:prstGeom>
          <a:solidFill>
            <a:schemeClr val="accent2">
              <a:alpha val="64000"/>
            </a:schemeClr>
          </a:solidFill>
          <a:ln/>
        </p:spPr>
      </p:sp>
      <p:sp>
        <p:nvSpPr>
          <p:cNvPr id="56" name="Ячейка 2-1"/>
          <p:cNvSpPr/>
          <p:nvPr/>
        </p:nvSpPr>
        <p:spPr>
          <a:xfrm>
            <a:off x="6867144" y="3886200"/>
            <a:ext cx="210312" cy="246888"/>
          </a:xfrm>
          <a:prstGeom prst="rect">
            <a:avLst/>
          </a:prstGeom>
          <a:solidFill>
            <a:schemeClr val="accent2">
              <a:alpha val="74000"/>
            </a:schemeClr>
          </a:solidFill>
          <a:ln/>
        </p:spPr>
      </p:sp>
      <p:sp>
        <p:nvSpPr>
          <p:cNvPr id="57" name="Ячейка 2-2"/>
          <p:cNvSpPr/>
          <p:nvPr/>
        </p:nvSpPr>
        <p:spPr>
          <a:xfrm>
            <a:off x="7104888" y="3886200"/>
            <a:ext cx="210312" cy="246888"/>
          </a:xfrm>
          <a:prstGeom prst="rect">
            <a:avLst/>
          </a:prstGeom>
          <a:solidFill>
            <a:schemeClr val="accent2">
              <a:alpha val="76000"/>
            </a:schemeClr>
          </a:solidFill>
          <a:ln/>
        </p:spPr>
      </p:sp>
      <p:sp>
        <p:nvSpPr>
          <p:cNvPr id="58" name="Ячейка 2-3"/>
          <p:cNvSpPr/>
          <p:nvPr/>
        </p:nvSpPr>
        <p:spPr>
          <a:xfrm>
            <a:off x="7342632" y="3886200"/>
            <a:ext cx="210312" cy="246888"/>
          </a:xfrm>
          <a:prstGeom prst="rect">
            <a:avLst/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59" name="Ячейка 2-4"/>
          <p:cNvSpPr/>
          <p:nvPr/>
        </p:nvSpPr>
        <p:spPr>
          <a:xfrm>
            <a:off x="7580376" y="3886200"/>
            <a:ext cx="210312" cy="246888"/>
          </a:xfrm>
          <a:prstGeom prst="rect">
            <a:avLst/>
          </a:prstGeom>
          <a:solidFill>
            <a:schemeClr val="accent2">
              <a:alpha val="47000"/>
            </a:schemeClr>
          </a:solidFill>
          <a:ln/>
        </p:spPr>
      </p:sp>
      <p:sp>
        <p:nvSpPr>
          <p:cNvPr id="60" name="Ячейка 2-5"/>
          <p:cNvSpPr/>
          <p:nvPr/>
        </p:nvSpPr>
        <p:spPr>
          <a:xfrm>
            <a:off x="7818120" y="3886200"/>
            <a:ext cx="210312" cy="246888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61" name="Ячейка 2-6"/>
          <p:cNvSpPr/>
          <p:nvPr/>
        </p:nvSpPr>
        <p:spPr>
          <a:xfrm>
            <a:off x="8055864" y="3886200"/>
            <a:ext cx="210312" cy="246888"/>
          </a:xfrm>
          <a:prstGeom prst="rect">
            <a:avLst/>
          </a:prstGeom>
          <a:solidFill>
            <a:schemeClr val="accent2">
              <a:alpha val="7000"/>
            </a:schemeClr>
          </a:solidFill>
          <a:ln/>
        </p:spPr>
      </p:sp>
      <p:sp>
        <p:nvSpPr>
          <p:cNvPr id="62" name="Ячейка 2-7"/>
          <p:cNvSpPr/>
          <p:nvPr/>
        </p:nvSpPr>
        <p:spPr>
          <a:xfrm>
            <a:off x="8293608" y="3886200"/>
            <a:ext cx="210312" cy="246888"/>
          </a:xfrm>
          <a:prstGeom prst="rect">
            <a:avLst/>
          </a:prstGeom>
          <a:solidFill>
            <a:schemeClr val="accent2">
              <a:alpha val="5000"/>
            </a:schemeClr>
          </a:solidFill>
          <a:ln/>
        </p:spPr>
      </p:sp>
      <p:sp>
        <p:nvSpPr>
          <p:cNvPr id="63" name="Ячейка 2-8"/>
          <p:cNvSpPr/>
          <p:nvPr/>
        </p:nvSpPr>
        <p:spPr>
          <a:xfrm>
            <a:off x="8531352" y="3886200"/>
            <a:ext cx="210312" cy="246888"/>
          </a:xfrm>
          <a:prstGeom prst="rect">
            <a:avLst/>
          </a:prstGeom>
          <a:solidFill>
            <a:schemeClr val="accent2">
              <a:alpha val="5000"/>
            </a:schemeClr>
          </a:solidFill>
          <a:ln/>
        </p:spPr>
      </p:sp>
      <p:sp>
        <p:nvSpPr>
          <p:cNvPr id="64" name="Ячейка 2-9"/>
          <p:cNvSpPr/>
          <p:nvPr/>
        </p:nvSpPr>
        <p:spPr>
          <a:xfrm>
            <a:off x="8769096" y="3886200"/>
            <a:ext cx="210312" cy="246888"/>
          </a:xfrm>
          <a:prstGeom prst="rect">
            <a:avLst/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65" name="Ячейка 2-10"/>
          <p:cNvSpPr/>
          <p:nvPr/>
        </p:nvSpPr>
        <p:spPr>
          <a:xfrm>
            <a:off x="9006840" y="3886200"/>
            <a:ext cx="210312" cy="246888"/>
          </a:xfrm>
          <a:prstGeom prst="rect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66" name="Ячейка 2-11"/>
          <p:cNvSpPr/>
          <p:nvPr/>
        </p:nvSpPr>
        <p:spPr>
          <a:xfrm>
            <a:off x="9244584" y="3886200"/>
            <a:ext cx="210312" cy="246888"/>
          </a:xfrm>
          <a:prstGeom prst="rect">
            <a:avLst/>
          </a:prstGeom>
          <a:solidFill>
            <a:schemeClr val="accent2">
              <a:alpha val="41000"/>
            </a:schemeClr>
          </a:solidFill>
          <a:ln/>
        </p:spPr>
      </p:sp>
      <p:sp>
        <p:nvSpPr>
          <p:cNvPr id="67" name="Ячейка 2-12"/>
          <p:cNvSpPr/>
          <p:nvPr/>
        </p:nvSpPr>
        <p:spPr>
          <a:xfrm>
            <a:off x="9482328" y="3886200"/>
            <a:ext cx="210312" cy="246888"/>
          </a:xfrm>
          <a:prstGeom prst="rect">
            <a:avLst/>
          </a:prstGeom>
          <a:solidFill>
            <a:schemeClr val="accent2">
              <a:alpha val="44000"/>
            </a:schemeClr>
          </a:solidFill>
          <a:ln/>
        </p:spPr>
      </p:sp>
      <p:sp>
        <p:nvSpPr>
          <p:cNvPr id="68" name="Ячейка 2-13"/>
          <p:cNvSpPr/>
          <p:nvPr/>
        </p:nvSpPr>
        <p:spPr>
          <a:xfrm>
            <a:off x="9720072" y="3886200"/>
            <a:ext cx="210312" cy="246888"/>
          </a:xfrm>
          <a:prstGeom prst="rect">
            <a:avLst/>
          </a:prstGeom>
          <a:solidFill>
            <a:schemeClr val="accent2">
              <a:alpha val="41000"/>
            </a:schemeClr>
          </a:solidFill>
          <a:ln/>
        </p:spPr>
      </p:sp>
      <p:sp>
        <p:nvSpPr>
          <p:cNvPr id="69" name="Ячейка 2-14"/>
          <p:cNvSpPr/>
          <p:nvPr/>
        </p:nvSpPr>
        <p:spPr>
          <a:xfrm>
            <a:off x="9957816" y="3886200"/>
            <a:ext cx="210312" cy="246888"/>
          </a:xfrm>
          <a:prstGeom prst="rect">
            <a:avLst/>
          </a:prstGeom>
          <a:solidFill>
            <a:schemeClr val="accent2">
              <a:alpha val="36000"/>
            </a:schemeClr>
          </a:solidFill>
          <a:ln/>
        </p:spPr>
      </p:sp>
      <p:sp>
        <p:nvSpPr>
          <p:cNvPr id="70" name="Ячейка 2-15"/>
          <p:cNvSpPr/>
          <p:nvPr/>
        </p:nvSpPr>
        <p:spPr>
          <a:xfrm>
            <a:off x="10195560" y="3886200"/>
            <a:ext cx="210312" cy="246888"/>
          </a:xfrm>
          <a:prstGeom prst="rect">
            <a:avLst/>
          </a:prstGeom>
          <a:solidFill>
            <a:schemeClr val="accent2">
              <a:alpha val="33000"/>
            </a:schemeClr>
          </a:solidFill>
          <a:ln/>
        </p:spPr>
      </p:sp>
      <p:sp>
        <p:nvSpPr>
          <p:cNvPr id="71" name="Ячейка 2-16"/>
          <p:cNvSpPr/>
          <p:nvPr/>
        </p:nvSpPr>
        <p:spPr>
          <a:xfrm>
            <a:off x="10433304" y="3886200"/>
            <a:ext cx="210312" cy="246888"/>
          </a:xfrm>
          <a:prstGeom prst="rect">
            <a:avLst/>
          </a:prstGeom>
          <a:solidFill>
            <a:schemeClr val="accent2">
              <a:alpha val="38000"/>
            </a:schemeClr>
          </a:solidFill>
          <a:ln/>
        </p:spPr>
      </p:sp>
      <p:sp>
        <p:nvSpPr>
          <p:cNvPr id="72" name="Ячейка 2-17"/>
          <p:cNvSpPr/>
          <p:nvPr/>
        </p:nvSpPr>
        <p:spPr>
          <a:xfrm>
            <a:off x="10671048" y="3886200"/>
            <a:ext cx="210312" cy="246888"/>
          </a:xfrm>
          <a:prstGeom prst="rect">
            <a:avLst/>
          </a:prstGeom>
          <a:solidFill>
            <a:schemeClr val="accent2">
              <a:alpha val="50000"/>
            </a:schemeClr>
          </a:solidFill>
          <a:ln/>
        </p:spPr>
      </p:sp>
      <p:sp>
        <p:nvSpPr>
          <p:cNvPr id="73" name="Ячейка 2-18"/>
          <p:cNvSpPr/>
          <p:nvPr/>
        </p:nvSpPr>
        <p:spPr>
          <a:xfrm>
            <a:off x="10908792" y="3886200"/>
            <a:ext cx="210312" cy="246888"/>
          </a:xfrm>
          <a:prstGeom prst="rect">
            <a:avLst/>
          </a:prstGeom>
          <a:solidFill>
            <a:schemeClr val="accent2">
              <a:alpha val="66000"/>
            </a:schemeClr>
          </a:solidFill>
          <a:ln/>
        </p:spPr>
      </p:sp>
      <p:sp>
        <p:nvSpPr>
          <p:cNvPr id="74" name="Ячейка 2-19"/>
          <p:cNvSpPr/>
          <p:nvPr/>
        </p:nvSpPr>
        <p:spPr>
          <a:xfrm>
            <a:off x="11146536" y="3886200"/>
            <a:ext cx="210312" cy="246888"/>
          </a:xfrm>
          <a:prstGeom prst="rect">
            <a:avLst/>
          </a:prstGeom>
          <a:solidFill>
            <a:schemeClr val="accent2">
              <a:alpha val="78000"/>
            </a:schemeClr>
          </a:solidFill>
          <a:ln/>
        </p:spPr>
      </p:sp>
      <p:sp>
        <p:nvSpPr>
          <p:cNvPr id="75" name="Ячейка 3-0"/>
          <p:cNvSpPr/>
          <p:nvPr/>
        </p:nvSpPr>
        <p:spPr>
          <a:xfrm>
            <a:off x="6629400" y="4160520"/>
            <a:ext cx="210312" cy="246888"/>
          </a:xfrm>
          <a:prstGeom prst="rect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6" name="Ячейка 3-1"/>
          <p:cNvSpPr/>
          <p:nvPr/>
        </p:nvSpPr>
        <p:spPr>
          <a:xfrm>
            <a:off x="6867144" y="4160520"/>
            <a:ext cx="210312" cy="246888"/>
          </a:xfrm>
          <a:prstGeom prst="rect">
            <a:avLst/>
          </a:prstGeom>
          <a:solidFill>
            <a:schemeClr val="accent2">
              <a:alpha val="49000"/>
            </a:schemeClr>
          </a:solidFill>
          <a:ln/>
        </p:spPr>
      </p:sp>
      <p:sp>
        <p:nvSpPr>
          <p:cNvPr id="77" name="Ячейка 3-2"/>
          <p:cNvSpPr/>
          <p:nvPr/>
        </p:nvSpPr>
        <p:spPr>
          <a:xfrm>
            <a:off x="7104888" y="4160520"/>
            <a:ext cx="210312" cy="246888"/>
          </a:xfrm>
          <a:prstGeom prst="rect">
            <a:avLst/>
          </a:prstGeom>
          <a:solidFill>
            <a:schemeClr val="accent2">
              <a:alpha val="47000"/>
            </a:schemeClr>
          </a:solidFill>
          <a:ln/>
        </p:spPr>
      </p:sp>
      <p:sp>
        <p:nvSpPr>
          <p:cNvPr id="78" name="Ячейка 3-3"/>
          <p:cNvSpPr/>
          <p:nvPr/>
        </p:nvSpPr>
        <p:spPr>
          <a:xfrm>
            <a:off x="7342632" y="4160520"/>
            <a:ext cx="210312" cy="246888"/>
          </a:xfrm>
          <a:prstGeom prst="rect">
            <a:avLst/>
          </a:prstGeom>
          <a:solidFill>
            <a:schemeClr val="accent2">
              <a:alpha val="38000"/>
            </a:schemeClr>
          </a:solidFill>
          <a:ln/>
        </p:spPr>
      </p:sp>
      <p:sp>
        <p:nvSpPr>
          <p:cNvPr id="79" name="Ячейка 3-4"/>
          <p:cNvSpPr/>
          <p:nvPr/>
        </p:nvSpPr>
        <p:spPr>
          <a:xfrm>
            <a:off x="7580376" y="4160520"/>
            <a:ext cx="210312" cy="246888"/>
          </a:xfrm>
          <a:prstGeom prst="rect">
            <a:avLst/>
          </a:prstGeom>
          <a:solidFill>
            <a:schemeClr val="accent2">
              <a:alpha val="24000"/>
            </a:schemeClr>
          </a:solidFill>
          <a:ln/>
        </p:spPr>
      </p:sp>
      <p:sp>
        <p:nvSpPr>
          <p:cNvPr id="80" name="Ячейка 3-5"/>
          <p:cNvSpPr/>
          <p:nvPr/>
        </p:nvSpPr>
        <p:spPr>
          <a:xfrm>
            <a:off x="7818120" y="4160520"/>
            <a:ext cx="210312" cy="246888"/>
          </a:xfrm>
          <a:prstGeom prst="rect">
            <a:avLst/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81" name="Ячейка 3-6"/>
          <p:cNvSpPr/>
          <p:nvPr/>
        </p:nvSpPr>
        <p:spPr>
          <a:xfrm>
            <a:off x="8055864" y="4160520"/>
            <a:ext cx="210312" cy="246888"/>
          </a:xfrm>
          <a:prstGeom prst="rect">
            <a:avLst/>
          </a:prstGeom>
          <a:solidFill>
            <a:schemeClr val="accent2">
              <a:alpha val="5000"/>
            </a:schemeClr>
          </a:solidFill>
          <a:ln/>
        </p:spPr>
      </p:sp>
      <p:sp>
        <p:nvSpPr>
          <p:cNvPr id="82" name="Ячейка 3-7"/>
          <p:cNvSpPr/>
          <p:nvPr/>
        </p:nvSpPr>
        <p:spPr>
          <a:xfrm>
            <a:off x="8293608" y="4160520"/>
            <a:ext cx="210312" cy="246888"/>
          </a:xfrm>
          <a:prstGeom prst="rect">
            <a:avLst/>
          </a:prstGeom>
          <a:solidFill>
            <a:schemeClr val="accent2">
              <a:alpha val="5000"/>
            </a:schemeClr>
          </a:solidFill>
          <a:ln/>
        </p:spPr>
      </p:sp>
      <p:sp>
        <p:nvSpPr>
          <p:cNvPr id="83" name="Ячейка 3-8"/>
          <p:cNvSpPr/>
          <p:nvPr/>
        </p:nvSpPr>
        <p:spPr>
          <a:xfrm>
            <a:off x="8531352" y="4160520"/>
            <a:ext cx="210312" cy="246888"/>
          </a:xfrm>
          <a:prstGeom prst="rect">
            <a:avLst/>
          </a:prstGeom>
          <a:solidFill>
            <a:schemeClr val="accent2">
              <a:alpha val="7000"/>
            </a:schemeClr>
          </a:solidFill>
          <a:ln/>
        </p:spPr>
      </p:sp>
      <p:sp>
        <p:nvSpPr>
          <p:cNvPr id="84" name="Ячейка 3-9"/>
          <p:cNvSpPr/>
          <p:nvPr/>
        </p:nvSpPr>
        <p:spPr>
          <a:xfrm>
            <a:off x="8769096" y="4160520"/>
            <a:ext cx="210312" cy="246888"/>
          </a:xfrm>
          <a:prstGeom prst="rect">
            <a:avLst/>
          </a:prstGeom>
          <a:solidFill>
            <a:schemeClr val="accent2">
              <a:alpha val="23000"/>
            </a:schemeClr>
          </a:solidFill>
          <a:ln/>
        </p:spPr>
      </p:sp>
      <p:sp>
        <p:nvSpPr>
          <p:cNvPr id="85" name="Ячейка 3-10"/>
          <p:cNvSpPr/>
          <p:nvPr/>
        </p:nvSpPr>
        <p:spPr>
          <a:xfrm>
            <a:off x="9006840" y="4160520"/>
            <a:ext cx="210312" cy="246888"/>
          </a:xfrm>
          <a:prstGeom prst="rect">
            <a:avLst/>
          </a:prstGeom>
          <a:solidFill>
            <a:schemeClr val="accent2">
              <a:alpha val="40000"/>
            </a:schemeClr>
          </a:solidFill>
          <a:ln/>
        </p:spPr>
      </p:sp>
      <p:sp>
        <p:nvSpPr>
          <p:cNvPr id="86" name="Ячейка 3-11"/>
          <p:cNvSpPr/>
          <p:nvPr/>
        </p:nvSpPr>
        <p:spPr>
          <a:xfrm>
            <a:off x="9244584" y="4160520"/>
            <a:ext cx="210312" cy="246888"/>
          </a:xfrm>
          <a:prstGeom prst="rect">
            <a:avLst/>
          </a:prstGeom>
          <a:solidFill>
            <a:schemeClr val="accent2">
              <a:alpha val="53000"/>
            </a:schemeClr>
          </a:solidFill>
          <a:ln/>
        </p:spPr>
      </p:sp>
      <p:sp>
        <p:nvSpPr>
          <p:cNvPr id="87" name="Ячейка 3-12"/>
          <p:cNvSpPr/>
          <p:nvPr/>
        </p:nvSpPr>
        <p:spPr>
          <a:xfrm>
            <a:off x="9482328" y="4160520"/>
            <a:ext cx="210312" cy="246888"/>
          </a:xfrm>
          <a:prstGeom prst="rect">
            <a:avLst/>
          </a:prstGeom>
          <a:solidFill>
            <a:schemeClr val="accent2">
              <a:alpha val="58000"/>
            </a:schemeClr>
          </a:solidFill>
          <a:ln/>
        </p:spPr>
      </p:sp>
      <p:sp>
        <p:nvSpPr>
          <p:cNvPr id="88" name="Ячейка 3-13"/>
          <p:cNvSpPr/>
          <p:nvPr/>
        </p:nvSpPr>
        <p:spPr>
          <a:xfrm>
            <a:off x="9720072" y="4160520"/>
            <a:ext cx="210312" cy="246888"/>
          </a:xfrm>
          <a:prstGeom prst="rect">
            <a:avLst/>
          </a:prstGeom>
          <a:solidFill>
            <a:schemeClr val="accent2">
              <a:alpha val="56000"/>
            </a:schemeClr>
          </a:solidFill>
          <a:ln/>
        </p:spPr>
      </p:sp>
      <p:sp>
        <p:nvSpPr>
          <p:cNvPr id="89" name="Ячейка 3-14"/>
          <p:cNvSpPr/>
          <p:nvPr/>
        </p:nvSpPr>
        <p:spPr>
          <a:xfrm>
            <a:off x="9957816" y="4160520"/>
            <a:ext cx="210312" cy="246888"/>
          </a:xfrm>
          <a:prstGeom prst="rect">
            <a:avLst/>
          </a:prstGeom>
          <a:solidFill>
            <a:schemeClr val="accent2">
              <a:alpha val="49000"/>
            </a:schemeClr>
          </a:solidFill>
          <a:ln/>
        </p:spPr>
      </p:sp>
      <p:sp>
        <p:nvSpPr>
          <p:cNvPr id="90" name="Ячейка 3-15"/>
          <p:cNvSpPr/>
          <p:nvPr/>
        </p:nvSpPr>
        <p:spPr>
          <a:xfrm>
            <a:off x="10195560" y="4160520"/>
            <a:ext cx="210312" cy="246888"/>
          </a:xfrm>
          <a:prstGeom prst="rect">
            <a:avLst/>
          </a:prstGeom>
          <a:solidFill>
            <a:schemeClr val="accent2">
              <a:alpha val="43000"/>
            </a:schemeClr>
          </a:solidFill>
          <a:ln/>
        </p:spPr>
      </p:sp>
      <p:sp>
        <p:nvSpPr>
          <p:cNvPr id="91" name="Ячейка 3-16"/>
          <p:cNvSpPr/>
          <p:nvPr/>
        </p:nvSpPr>
        <p:spPr>
          <a:xfrm>
            <a:off x="10433304" y="4160520"/>
            <a:ext cx="210312" cy="246888"/>
          </a:xfrm>
          <a:prstGeom prst="rect">
            <a:avLst/>
          </a:prstGeom>
          <a:solidFill>
            <a:schemeClr val="accent2">
              <a:alpha val="41000"/>
            </a:schemeClr>
          </a:solidFill>
          <a:ln/>
        </p:spPr>
      </p:sp>
      <p:sp>
        <p:nvSpPr>
          <p:cNvPr id="92" name="Ячейка 3-17"/>
          <p:cNvSpPr/>
          <p:nvPr/>
        </p:nvSpPr>
        <p:spPr>
          <a:xfrm>
            <a:off x="10671048" y="4160520"/>
            <a:ext cx="210312" cy="246888"/>
          </a:xfrm>
          <a:prstGeom prst="rect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93" name="Ячейка 3-18"/>
          <p:cNvSpPr/>
          <p:nvPr/>
        </p:nvSpPr>
        <p:spPr>
          <a:xfrm>
            <a:off x="10908792" y="4160520"/>
            <a:ext cx="210312" cy="246888"/>
          </a:xfrm>
          <a:prstGeom prst="rect">
            <a:avLst/>
          </a:prstGeom>
          <a:solidFill>
            <a:schemeClr val="accent2">
              <a:alpha val="52000"/>
            </a:schemeClr>
          </a:solidFill>
          <a:ln/>
        </p:spPr>
      </p:sp>
      <p:sp>
        <p:nvSpPr>
          <p:cNvPr id="94" name="Ячейка 3-19"/>
          <p:cNvSpPr/>
          <p:nvPr/>
        </p:nvSpPr>
        <p:spPr>
          <a:xfrm>
            <a:off x="11146536" y="4160520"/>
            <a:ext cx="210312" cy="246888"/>
          </a:xfrm>
          <a:prstGeom prst="rect">
            <a:avLst/>
          </a:prstGeom>
          <a:solidFill>
            <a:schemeClr val="accent2">
              <a:alpha val="57000"/>
            </a:schemeClr>
          </a:solidFill>
          <a:ln/>
        </p:spPr>
      </p:sp>
      <p:sp>
        <p:nvSpPr>
          <p:cNvPr id="95" name="Ячейка 4-0"/>
          <p:cNvSpPr/>
          <p:nvPr/>
        </p:nvSpPr>
        <p:spPr>
          <a:xfrm>
            <a:off x="6629400" y="4434840"/>
            <a:ext cx="210312" cy="246888"/>
          </a:xfrm>
          <a:prstGeom prst="rect">
            <a:avLst/>
          </a:prstGeom>
          <a:solidFill>
            <a:schemeClr val="accent2">
              <a:alpha val="23000"/>
            </a:schemeClr>
          </a:solidFill>
          <a:ln/>
        </p:spPr>
      </p:sp>
      <p:sp>
        <p:nvSpPr>
          <p:cNvPr id="96" name="Ячейка 4-1"/>
          <p:cNvSpPr/>
          <p:nvPr/>
        </p:nvSpPr>
        <p:spPr>
          <a:xfrm>
            <a:off x="6867144" y="4434840"/>
            <a:ext cx="210312" cy="246888"/>
          </a:xfrm>
          <a:prstGeom prst="rect">
            <a:avLst/>
          </a:prstGeom>
          <a:solidFill>
            <a:schemeClr val="accent2">
              <a:alpha val="26000"/>
            </a:schemeClr>
          </a:solidFill>
          <a:ln/>
        </p:spPr>
      </p:sp>
      <p:sp>
        <p:nvSpPr>
          <p:cNvPr id="97" name="Ячейка 4-2"/>
          <p:cNvSpPr/>
          <p:nvPr/>
        </p:nvSpPr>
        <p:spPr>
          <a:xfrm>
            <a:off x="7104888" y="4434840"/>
            <a:ext cx="210312" cy="246888"/>
          </a:xfrm>
          <a:prstGeom prst="rect">
            <a:avLst/>
          </a:prstGeom>
          <a:solidFill>
            <a:schemeClr val="accent2">
              <a:alpha val="27000"/>
            </a:schemeClr>
          </a:solidFill>
          <a:ln/>
        </p:spPr>
      </p:sp>
      <p:sp>
        <p:nvSpPr>
          <p:cNvPr id="98" name="Ячейка 4-3"/>
          <p:cNvSpPr/>
          <p:nvPr/>
        </p:nvSpPr>
        <p:spPr>
          <a:xfrm>
            <a:off x="7342632" y="4434840"/>
            <a:ext cx="210312" cy="246888"/>
          </a:xfrm>
          <a:prstGeom prst="rect">
            <a:avLst/>
          </a:prstGeom>
          <a:solidFill>
            <a:schemeClr val="accent2">
              <a:alpha val="24000"/>
            </a:schemeClr>
          </a:solidFill>
          <a:ln/>
        </p:spPr>
      </p:sp>
      <p:sp>
        <p:nvSpPr>
          <p:cNvPr id="99" name="Ячейка 4-4"/>
          <p:cNvSpPr/>
          <p:nvPr/>
        </p:nvSpPr>
        <p:spPr>
          <a:xfrm>
            <a:off x="7580376" y="4434840"/>
            <a:ext cx="210312" cy="246888"/>
          </a:xfrm>
          <a:prstGeom prst="rect">
            <a:avLst/>
          </a:prstGeom>
          <a:solidFill>
            <a:schemeClr val="accent2">
              <a:alpha val="17000"/>
            </a:schemeClr>
          </a:solidFill>
          <a:ln/>
        </p:spPr>
      </p:sp>
      <p:sp>
        <p:nvSpPr>
          <p:cNvPr id="100" name="Ячейка 4-5"/>
          <p:cNvSpPr/>
          <p:nvPr/>
        </p:nvSpPr>
        <p:spPr>
          <a:xfrm>
            <a:off x="7818120" y="4434840"/>
            <a:ext cx="210312" cy="246888"/>
          </a:xfrm>
          <a:prstGeom prst="rect">
            <a:avLst/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101" name="Ячейка 4-6"/>
          <p:cNvSpPr/>
          <p:nvPr/>
        </p:nvSpPr>
        <p:spPr>
          <a:xfrm>
            <a:off x="8055864" y="4434840"/>
            <a:ext cx="210312" cy="246888"/>
          </a:xfrm>
          <a:prstGeom prst="rect">
            <a:avLst/>
          </a:prstGeom>
          <a:solidFill>
            <a:schemeClr val="accent2">
              <a:alpha val="7000"/>
            </a:schemeClr>
          </a:solidFill>
          <a:ln/>
        </p:spPr>
      </p:sp>
      <p:sp>
        <p:nvSpPr>
          <p:cNvPr id="102" name="Ячейка 4-7"/>
          <p:cNvSpPr/>
          <p:nvPr/>
        </p:nvSpPr>
        <p:spPr>
          <a:xfrm>
            <a:off x="8293608" y="4434840"/>
            <a:ext cx="210312" cy="246888"/>
          </a:xfrm>
          <a:prstGeom prst="rect">
            <a:avLst/>
          </a:prstGeom>
          <a:solidFill>
            <a:schemeClr val="accent2">
              <a:alpha val="11000"/>
            </a:schemeClr>
          </a:solidFill>
          <a:ln/>
        </p:spPr>
      </p:sp>
      <p:sp>
        <p:nvSpPr>
          <p:cNvPr id="103" name="Ячейка 4-8"/>
          <p:cNvSpPr/>
          <p:nvPr/>
        </p:nvSpPr>
        <p:spPr>
          <a:xfrm>
            <a:off x="8531352" y="4434840"/>
            <a:ext cx="210312" cy="246888"/>
          </a:xfrm>
          <a:prstGeom prst="rect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04" name="Ячейка 4-9"/>
          <p:cNvSpPr/>
          <p:nvPr/>
        </p:nvSpPr>
        <p:spPr>
          <a:xfrm>
            <a:off x="8769096" y="4434840"/>
            <a:ext cx="210312" cy="246888"/>
          </a:xfrm>
          <a:prstGeom prst="rect">
            <a:avLst/>
          </a:prstGeom>
          <a:solidFill>
            <a:schemeClr val="accent2">
              <a:alpha val="37000"/>
            </a:schemeClr>
          </a:solidFill>
          <a:ln/>
        </p:spPr>
      </p:sp>
      <p:sp>
        <p:nvSpPr>
          <p:cNvPr id="105" name="Ячейка 4-10"/>
          <p:cNvSpPr/>
          <p:nvPr/>
        </p:nvSpPr>
        <p:spPr>
          <a:xfrm>
            <a:off x="9006840" y="4434840"/>
            <a:ext cx="210312" cy="246888"/>
          </a:xfrm>
          <a:prstGeom prst="rect">
            <a:avLst/>
          </a:prstGeom>
          <a:solidFill>
            <a:schemeClr val="accent2">
              <a:alpha val="52000"/>
            </a:schemeClr>
          </a:solidFill>
          <a:ln/>
        </p:spPr>
      </p:sp>
      <p:sp>
        <p:nvSpPr>
          <p:cNvPr id="106" name="Ячейка 4-11"/>
          <p:cNvSpPr/>
          <p:nvPr/>
        </p:nvSpPr>
        <p:spPr>
          <a:xfrm>
            <a:off x="9244584" y="4434840"/>
            <a:ext cx="210312" cy="246888"/>
          </a:xfrm>
          <a:prstGeom prst="rect">
            <a:avLst/>
          </a:prstGeom>
          <a:solidFill>
            <a:schemeClr val="accent2">
              <a:alpha val="61000"/>
            </a:schemeClr>
          </a:solidFill>
          <a:ln/>
        </p:spPr>
      </p:sp>
      <p:sp>
        <p:nvSpPr>
          <p:cNvPr id="107" name="Ячейка 4-12"/>
          <p:cNvSpPr/>
          <p:nvPr/>
        </p:nvSpPr>
        <p:spPr>
          <a:xfrm>
            <a:off x="9482328" y="4434840"/>
            <a:ext cx="210312" cy="246888"/>
          </a:xfrm>
          <a:prstGeom prst="rect">
            <a:avLst/>
          </a:prstGeom>
          <a:solidFill>
            <a:schemeClr val="accent2">
              <a:alpha val="62000"/>
            </a:schemeClr>
          </a:solidFill>
          <a:ln/>
        </p:spPr>
      </p:sp>
      <p:sp>
        <p:nvSpPr>
          <p:cNvPr id="108" name="Ячейка 4-13"/>
          <p:cNvSpPr/>
          <p:nvPr/>
        </p:nvSpPr>
        <p:spPr>
          <a:xfrm>
            <a:off x="9720072" y="4434840"/>
            <a:ext cx="210312" cy="246888"/>
          </a:xfrm>
          <a:prstGeom prst="rect">
            <a:avLst/>
          </a:prstGeom>
          <a:solidFill>
            <a:schemeClr val="accent2">
              <a:alpha val="56000"/>
            </a:schemeClr>
          </a:solidFill>
          <a:ln/>
        </p:spPr>
      </p:sp>
      <p:sp>
        <p:nvSpPr>
          <p:cNvPr id="109" name="Ячейка 4-14"/>
          <p:cNvSpPr/>
          <p:nvPr/>
        </p:nvSpPr>
        <p:spPr>
          <a:xfrm>
            <a:off x="9957816" y="4434840"/>
            <a:ext cx="210312" cy="246888"/>
          </a:xfrm>
          <a:prstGeom prst="rect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110" name="Ячейка 4-15"/>
          <p:cNvSpPr/>
          <p:nvPr/>
        </p:nvSpPr>
        <p:spPr>
          <a:xfrm>
            <a:off x="10195560" y="4434840"/>
            <a:ext cx="210312" cy="246888"/>
          </a:xfrm>
          <a:prstGeom prst="rect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11" name="Ячейка 4-16"/>
          <p:cNvSpPr/>
          <p:nvPr/>
        </p:nvSpPr>
        <p:spPr>
          <a:xfrm>
            <a:off x="10433304" y="4434840"/>
            <a:ext cx="210312" cy="246888"/>
          </a:xfrm>
          <a:prstGeom prst="rect">
            <a:avLst/>
          </a:prstGeom>
          <a:solidFill>
            <a:schemeClr val="accent2">
              <a:alpha val="29000"/>
            </a:schemeClr>
          </a:solidFill>
          <a:ln/>
        </p:spPr>
      </p:sp>
      <p:sp>
        <p:nvSpPr>
          <p:cNvPr id="112" name="Ячейка 4-17"/>
          <p:cNvSpPr/>
          <p:nvPr/>
        </p:nvSpPr>
        <p:spPr>
          <a:xfrm>
            <a:off x="10671048" y="4434840"/>
            <a:ext cx="210312" cy="246888"/>
          </a:xfrm>
          <a:prstGeom prst="rect">
            <a:avLst/>
          </a:prstGeom>
          <a:solidFill>
            <a:schemeClr val="accent2">
              <a:alpha val="27000"/>
            </a:schemeClr>
          </a:solidFill>
          <a:ln/>
        </p:spPr>
      </p:sp>
      <p:sp>
        <p:nvSpPr>
          <p:cNvPr id="113" name="Ячейка 4-18"/>
          <p:cNvSpPr/>
          <p:nvPr/>
        </p:nvSpPr>
        <p:spPr>
          <a:xfrm>
            <a:off x="10908792" y="4434840"/>
            <a:ext cx="210312" cy="246888"/>
          </a:xfrm>
          <a:prstGeom prst="rect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114" name="Ячейка 4-19"/>
          <p:cNvSpPr/>
          <p:nvPr/>
        </p:nvSpPr>
        <p:spPr>
          <a:xfrm>
            <a:off x="11146536" y="4434840"/>
            <a:ext cx="210312" cy="246888"/>
          </a:xfrm>
          <a:prstGeom prst="rect">
            <a:avLst/>
          </a:prstGeom>
          <a:solidFill>
            <a:schemeClr val="accent2">
              <a:alpha val="32000"/>
            </a:schemeClr>
          </a:solidFill>
          <a:ln/>
        </p:spPr>
      </p:sp>
      <p:sp>
        <p:nvSpPr>
          <p:cNvPr id="115" name="Ячейка 5-0"/>
          <p:cNvSpPr/>
          <p:nvPr/>
        </p:nvSpPr>
        <p:spPr>
          <a:xfrm>
            <a:off x="6629400" y="4709160"/>
            <a:ext cx="210312" cy="246888"/>
          </a:xfrm>
          <a:prstGeom prst="rect">
            <a:avLst/>
          </a:prstGeom>
          <a:solidFill>
            <a:schemeClr val="accent2">
              <a:alpha val="11000"/>
            </a:schemeClr>
          </a:solidFill>
          <a:ln/>
        </p:spPr>
      </p:sp>
      <p:sp>
        <p:nvSpPr>
          <p:cNvPr id="116" name="Ячейка 5-1"/>
          <p:cNvSpPr/>
          <p:nvPr/>
        </p:nvSpPr>
        <p:spPr>
          <a:xfrm>
            <a:off x="6867144" y="4709160"/>
            <a:ext cx="210312" cy="246888"/>
          </a:xfrm>
          <a:prstGeom prst="rect">
            <a:avLst/>
          </a:prstGeom>
          <a:solidFill>
            <a:schemeClr val="accent2">
              <a:alpha val="17000"/>
            </a:schemeClr>
          </a:solidFill>
          <a:ln/>
        </p:spPr>
      </p:sp>
      <p:sp>
        <p:nvSpPr>
          <p:cNvPr id="117" name="Ячейка 5-2"/>
          <p:cNvSpPr/>
          <p:nvPr/>
        </p:nvSpPr>
        <p:spPr>
          <a:xfrm>
            <a:off x="7104888" y="4709160"/>
            <a:ext cx="210312" cy="246888"/>
          </a:xfrm>
          <a:prstGeom prst="rect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18" name="Ячейка 5-3"/>
          <p:cNvSpPr/>
          <p:nvPr/>
        </p:nvSpPr>
        <p:spPr>
          <a:xfrm>
            <a:off x="7342632" y="4709160"/>
            <a:ext cx="210312" cy="246888"/>
          </a:xfrm>
          <a:prstGeom prst="rect">
            <a:avLst/>
          </a:prstGeom>
          <a:solidFill>
            <a:schemeClr val="accent2">
              <a:alpha val="24000"/>
            </a:schemeClr>
          </a:solidFill>
          <a:ln/>
        </p:spPr>
      </p:sp>
      <p:sp>
        <p:nvSpPr>
          <p:cNvPr id="119" name="Ячейка 5-4"/>
          <p:cNvSpPr/>
          <p:nvPr/>
        </p:nvSpPr>
        <p:spPr>
          <a:xfrm>
            <a:off x="7580376" y="4709160"/>
            <a:ext cx="210312" cy="246888"/>
          </a:xfrm>
          <a:prstGeom prst="rect">
            <a:avLst/>
          </a:prstGeom>
          <a:solidFill>
            <a:schemeClr val="accent2">
              <a:alpha val="23000"/>
            </a:schemeClr>
          </a:solidFill>
          <a:ln/>
        </p:spPr>
      </p:sp>
      <p:sp>
        <p:nvSpPr>
          <p:cNvPr id="120" name="Ячейка 5-5"/>
          <p:cNvSpPr/>
          <p:nvPr/>
        </p:nvSpPr>
        <p:spPr>
          <a:xfrm>
            <a:off x="7818120" y="4709160"/>
            <a:ext cx="210312" cy="246888"/>
          </a:xfrm>
          <a:prstGeom prst="rect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21" name="Ячейка 5-6"/>
          <p:cNvSpPr/>
          <p:nvPr/>
        </p:nvSpPr>
        <p:spPr>
          <a:xfrm>
            <a:off x="8055864" y="4709160"/>
            <a:ext cx="210312" cy="246888"/>
          </a:xfrm>
          <a:prstGeom prst="rect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22" name="Ячейка 5-7"/>
          <p:cNvSpPr/>
          <p:nvPr/>
        </p:nvSpPr>
        <p:spPr>
          <a:xfrm>
            <a:off x="8293608" y="4709160"/>
            <a:ext cx="210312" cy="246888"/>
          </a:xfrm>
          <a:prstGeom prst="rect">
            <a:avLst/>
          </a:prstGeom>
          <a:solidFill>
            <a:schemeClr val="accent2">
              <a:alpha val="26000"/>
            </a:schemeClr>
          </a:solidFill>
          <a:ln/>
        </p:spPr>
      </p:sp>
      <p:sp>
        <p:nvSpPr>
          <p:cNvPr id="123" name="Ячейка 5-8"/>
          <p:cNvSpPr/>
          <p:nvPr/>
        </p:nvSpPr>
        <p:spPr>
          <a:xfrm>
            <a:off x="8531352" y="4709160"/>
            <a:ext cx="210312" cy="246888"/>
          </a:xfrm>
          <a:prstGeom prst="rect">
            <a:avLst/>
          </a:prstGeom>
          <a:solidFill>
            <a:schemeClr val="accent2">
              <a:alpha val="34000"/>
            </a:schemeClr>
          </a:solidFill>
          <a:ln/>
        </p:spPr>
      </p:sp>
      <p:sp>
        <p:nvSpPr>
          <p:cNvPr id="124" name="Ячейка 5-9"/>
          <p:cNvSpPr/>
          <p:nvPr/>
        </p:nvSpPr>
        <p:spPr>
          <a:xfrm>
            <a:off x="8769096" y="4709160"/>
            <a:ext cx="210312" cy="246888"/>
          </a:xfrm>
          <a:prstGeom prst="rect">
            <a:avLst/>
          </a:prstGeom>
          <a:solidFill>
            <a:schemeClr val="accent2">
              <a:alpha val="43000"/>
            </a:schemeClr>
          </a:solidFill>
          <a:ln/>
        </p:spPr>
      </p:sp>
      <p:sp>
        <p:nvSpPr>
          <p:cNvPr id="125" name="Ячейка 5-10"/>
          <p:cNvSpPr/>
          <p:nvPr/>
        </p:nvSpPr>
        <p:spPr>
          <a:xfrm>
            <a:off x="9006840" y="4709160"/>
            <a:ext cx="210312" cy="246888"/>
          </a:xfrm>
          <a:prstGeom prst="rect">
            <a:avLst/>
          </a:prstGeom>
          <a:solidFill>
            <a:schemeClr val="accent2">
              <a:alpha val="51000"/>
            </a:schemeClr>
          </a:solidFill>
          <a:ln/>
        </p:spPr>
      </p:sp>
      <p:sp>
        <p:nvSpPr>
          <p:cNvPr id="126" name="Ячейка 5-11"/>
          <p:cNvSpPr/>
          <p:nvPr/>
        </p:nvSpPr>
        <p:spPr>
          <a:xfrm>
            <a:off x="9244584" y="4709160"/>
            <a:ext cx="210312" cy="246888"/>
          </a:xfrm>
          <a:prstGeom prst="rect">
            <a:avLst/>
          </a:prstGeom>
          <a:solidFill>
            <a:schemeClr val="accent2">
              <a:alpha val="54000"/>
            </a:schemeClr>
          </a:solidFill>
          <a:ln/>
        </p:spPr>
      </p:sp>
      <p:sp>
        <p:nvSpPr>
          <p:cNvPr id="127" name="Ячейка 5-12"/>
          <p:cNvSpPr/>
          <p:nvPr/>
        </p:nvSpPr>
        <p:spPr>
          <a:xfrm>
            <a:off x="9482328" y="4709160"/>
            <a:ext cx="210312" cy="246888"/>
          </a:xfrm>
          <a:prstGeom prst="rect">
            <a:avLst/>
          </a:prstGeom>
          <a:solidFill>
            <a:schemeClr val="accent2">
              <a:alpha val="50000"/>
            </a:schemeClr>
          </a:solidFill>
          <a:ln/>
        </p:spPr>
      </p:sp>
      <p:sp>
        <p:nvSpPr>
          <p:cNvPr id="128" name="Ячейка 5-13"/>
          <p:cNvSpPr/>
          <p:nvPr/>
        </p:nvSpPr>
        <p:spPr>
          <a:xfrm>
            <a:off x="9720072" y="4709160"/>
            <a:ext cx="210312" cy="246888"/>
          </a:xfrm>
          <a:prstGeom prst="rect">
            <a:avLst/>
          </a:prstGeom>
          <a:solidFill>
            <a:schemeClr val="accent2">
              <a:alpha val="41000"/>
            </a:schemeClr>
          </a:solidFill>
          <a:ln/>
        </p:spPr>
      </p:sp>
      <p:sp>
        <p:nvSpPr>
          <p:cNvPr id="129" name="Ячейка 5-14"/>
          <p:cNvSpPr/>
          <p:nvPr/>
        </p:nvSpPr>
        <p:spPr>
          <a:xfrm>
            <a:off x="9957816" y="4709160"/>
            <a:ext cx="210312" cy="246888"/>
          </a:xfrm>
          <a:prstGeom prst="rect">
            <a:avLst/>
          </a:prstGeom>
          <a:solidFill>
            <a:schemeClr val="accent2">
              <a:alpha val="29000"/>
            </a:schemeClr>
          </a:solidFill>
          <a:ln/>
        </p:spPr>
      </p:sp>
      <p:sp>
        <p:nvSpPr>
          <p:cNvPr id="130" name="Ячейка 5-15"/>
          <p:cNvSpPr/>
          <p:nvPr/>
        </p:nvSpPr>
        <p:spPr>
          <a:xfrm>
            <a:off x="10195560" y="4709160"/>
            <a:ext cx="210312" cy="246888"/>
          </a:xfrm>
          <a:prstGeom prst="rect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131" name="Ячейка 5-16"/>
          <p:cNvSpPr/>
          <p:nvPr/>
        </p:nvSpPr>
        <p:spPr>
          <a:xfrm>
            <a:off x="10433304" y="4709160"/>
            <a:ext cx="210312" cy="246888"/>
          </a:xfrm>
          <a:prstGeom prst="rect">
            <a:avLst/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32" name="Ячейка 5-17"/>
          <p:cNvSpPr/>
          <p:nvPr/>
        </p:nvSpPr>
        <p:spPr>
          <a:xfrm>
            <a:off x="10671048" y="4709160"/>
            <a:ext cx="210312" cy="246888"/>
          </a:xfrm>
          <a:prstGeom prst="rect">
            <a:avLst/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133" name="Ячейка 5-18"/>
          <p:cNvSpPr/>
          <p:nvPr/>
        </p:nvSpPr>
        <p:spPr>
          <a:xfrm>
            <a:off x="10908792" y="4709160"/>
            <a:ext cx="210312" cy="246888"/>
          </a:xfrm>
          <a:prstGeom prst="rect">
            <a:avLst/>
          </a:prstGeom>
          <a:solidFill>
            <a:schemeClr val="accent2">
              <a:alpha val="13000"/>
            </a:schemeClr>
          </a:solidFill>
          <a:ln/>
        </p:spPr>
      </p:sp>
      <p:sp>
        <p:nvSpPr>
          <p:cNvPr id="134" name="Ячейка 5-19"/>
          <p:cNvSpPr/>
          <p:nvPr/>
        </p:nvSpPr>
        <p:spPr>
          <a:xfrm>
            <a:off x="11146536" y="4709160"/>
            <a:ext cx="210312" cy="246888"/>
          </a:xfrm>
          <a:prstGeom prst="rect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135" name="Ячейка 6-0"/>
          <p:cNvSpPr/>
          <p:nvPr/>
        </p:nvSpPr>
        <p:spPr>
          <a:xfrm>
            <a:off x="6629400" y="4983480"/>
            <a:ext cx="210312" cy="246888"/>
          </a:xfrm>
          <a:prstGeom prst="rect">
            <a:avLst/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36" name="Ячейка 6-1"/>
          <p:cNvSpPr/>
          <p:nvPr/>
        </p:nvSpPr>
        <p:spPr>
          <a:xfrm>
            <a:off x="6867144" y="4983480"/>
            <a:ext cx="210312" cy="246888"/>
          </a:xfrm>
          <a:prstGeom prst="rect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137" name="Ячейка 6-2"/>
          <p:cNvSpPr/>
          <p:nvPr/>
        </p:nvSpPr>
        <p:spPr>
          <a:xfrm>
            <a:off x="7104888" y="4983480"/>
            <a:ext cx="210312" cy="246888"/>
          </a:xfrm>
          <a:prstGeom prst="rect">
            <a:avLst/>
          </a:prstGeom>
          <a:solidFill>
            <a:schemeClr val="accent2">
              <a:alpha val="27000"/>
            </a:schemeClr>
          </a:solidFill>
          <a:ln/>
        </p:spPr>
      </p:sp>
      <p:sp>
        <p:nvSpPr>
          <p:cNvPr id="138" name="Ячейка 6-3"/>
          <p:cNvSpPr/>
          <p:nvPr/>
        </p:nvSpPr>
        <p:spPr>
          <a:xfrm>
            <a:off x="7342632" y="4983480"/>
            <a:ext cx="210312" cy="246888"/>
          </a:xfrm>
          <a:prstGeom prst="rect">
            <a:avLst/>
          </a:prstGeom>
          <a:solidFill>
            <a:schemeClr val="accent2">
              <a:alpha val="31000"/>
            </a:schemeClr>
          </a:solidFill>
          <a:ln/>
        </p:spPr>
      </p:sp>
      <p:sp>
        <p:nvSpPr>
          <p:cNvPr id="139" name="Ячейка 6-4"/>
          <p:cNvSpPr/>
          <p:nvPr/>
        </p:nvSpPr>
        <p:spPr>
          <a:xfrm>
            <a:off x="7580376" y="4983480"/>
            <a:ext cx="210312" cy="246888"/>
          </a:xfrm>
          <a:prstGeom prst="rect">
            <a:avLst/>
          </a:prstGeom>
          <a:solidFill>
            <a:schemeClr val="accent2">
              <a:alpha val="32000"/>
            </a:schemeClr>
          </a:solidFill>
          <a:ln/>
        </p:spPr>
      </p:sp>
      <p:sp>
        <p:nvSpPr>
          <p:cNvPr id="140" name="Ячейка 6-5"/>
          <p:cNvSpPr/>
          <p:nvPr/>
        </p:nvSpPr>
        <p:spPr>
          <a:xfrm>
            <a:off x="7818120" y="4983480"/>
            <a:ext cx="210312" cy="246888"/>
          </a:xfrm>
          <a:prstGeom prst="rect">
            <a:avLst/>
          </a:prstGeom>
          <a:solidFill>
            <a:schemeClr val="accent2">
              <a:alpha val="31000"/>
            </a:schemeClr>
          </a:solidFill>
          <a:ln/>
        </p:spPr>
      </p:sp>
      <p:sp>
        <p:nvSpPr>
          <p:cNvPr id="141" name="Ячейка 6-6"/>
          <p:cNvSpPr/>
          <p:nvPr/>
        </p:nvSpPr>
        <p:spPr>
          <a:xfrm>
            <a:off x="8055864" y="4983480"/>
            <a:ext cx="210312" cy="246888"/>
          </a:xfrm>
          <a:prstGeom prst="rect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142" name="Ячейка 6-7"/>
          <p:cNvSpPr/>
          <p:nvPr/>
        </p:nvSpPr>
        <p:spPr>
          <a:xfrm>
            <a:off x="8293608" y="4983480"/>
            <a:ext cx="210312" cy="246888"/>
          </a:xfrm>
          <a:prstGeom prst="rect">
            <a:avLst/>
          </a:prstGeom>
          <a:solidFill>
            <a:schemeClr val="accent2">
              <a:alpha val="31000"/>
            </a:schemeClr>
          </a:solidFill>
          <a:ln/>
        </p:spPr>
      </p:sp>
      <p:sp>
        <p:nvSpPr>
          <p:cNvPr id="143" name="Ячейка 6-8"/>
          <p:cNvSpPr/>
          <p:nvPr/>
        </p:nvSpPr>
        <p:spPr>
          <a:xfrm>
            <a:off x="8531352" y="4983480"/>
            <a:ext cx="210312" cy="246888"/>
          </a:xfrm>
          <a:prstGeom prst="rect">
            <a:avLst/>
          </a:prstGeom>
          <a:solidFill>
            <a:schemeClr val="accent2">
              <a:alpha val="33000"/>
            </a:schemeClr>
          </a:solidFill>
          <a:ln/>
        </p:spPr>
      </p:sp>
      <p:sp>
        <p:nvSpPr>
          <p:cNvPr id="144" name="Ячейка 6-9"/>
          <p:cNvSpPr/>
          <p:nvPr/>
        </p:nvSpPr>
        <p:spPr>
          <a:xfrm>
            <a:off x="8769096" y="4983480"/>
            <a:ext cx="210312" cy="246888"/>
          </a:xfrm>
          <a:prstGeom prst="rect">
            <a:avLst/>
          </a:prstGeom>
          <a:solidFill>
            <a:schemeClr val="accent2">
              <a:alpha val="36000"/>
            </a:schemeClr>
          </a:solidFill>
          <a:ln/>
        </p:spPr>
      </p:sp>
      <p:sp>
        <p:nvSpPr>
          <p:cNvPr id="145" name="Ячейка 6-10"/>
          <p:cNvSpPr/>
          <p:nvPr/>
        </p:nvSpPr>
        <p:spPr>
          <a:xfrm>
            <a:off x="9006840" y="4983480"/>
            <a:ext cx="210312" cy="246888"/>
          </a:xfrm>
          <a:prstGeom prst="rect">
            <a:avLst/>
          </a:prstGeom>
          <a:solidFill>
            <a:schemeClr val="accent2">
              <a:alpha val="37000"/>
            </a:schemeClr>
          </a:solidFill>
          <a:ln/>
        </p:spPr>
      </p:sp>
      <p:sp>
        <p:nvSpPr>
          <p:cNvPr id="146" name="Ячейка 6-11"/>
          <p:cNvSpPr/>
          <p:nvPr/>
        </p:nvSpPr>
        <p:spPr>
          <a:xfrm>
            <a:off x="9244584" y="4983480"/>
            <a:ext cx="210312" cy="246888"/>
          </a:xfrm>
          <a:prstGeom prst="rect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47" name="Ячейка 6-12"/>
          <p:cNvSpPr/>
          <p:nvPr/>
        </p:nvSpPr>
        <p:spPr>
          <a:xfrm>
            <a:off x="9482328" y="4983480"/>
            <a:ext cx="210312" cy="246888"/>
          </a:xfrm>
          <a:prstGeom prst="rect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148" name="Ячейка 6-13"/>
          <p:cNvSpPr/>
          <p:nvPr/>
        </p:nvSpPr>
        <p:spPr>
          <a:xfrm>
            <a:off x="9720072" y="4983480"/>
            <a:ext cx="210312" cy="246888"/>
          </a:xfrm>
          <a:prstGeom prst="rect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49" name="Ячейка 6-14"/>
          <p:cNvSpPr/>
          <p:nvPr/>
        </p:nvSpPr>
        <p:spPr>
          <a:xfrm>
            <a:off x="9957816" y="4983480"/>
            <a:ext cx="210312" cy="246888"/>
          </a:xfrm>
          <a:prstGeom prst="rect">
            <a:avLst/>
          </a:prstGeom>
          <a:solidFill>
            <a:schemeClr val="accent2">
              <a:alpha val="13000"/>
            </a:schemeClr>
          </a:solidFill>
          <a:ln/>
        </p:spPr>
      </p:sp>
      <p:sp>
        <p:nvSpPr>
          <p:cNvPr id="150" name="Ячейка 6-15"/>
          <p:cNvSpPr/>
          <p:nvPr/>
        </p:nvSpPr>
        <p:spPr>
          <a:xfrm>
            <a:off x="10195560" y="4983480"/>
            <a:ext cx="210312" cy="246888"/>
          </a:xfrm>
          <a:prstGeom prst="rect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151" name="Ячейка 6-16"/>
          <p:cNvSpPr/>
          <p:nvPr/>
        </p:nvSpPr>
        <p:spPr>
          <a:xfrm>
            <a:off x="10433304" y="4983480"/>
            <a:ext cx="210312" cy="246888"/>
          </a:xfrm>
          <a:prstGeom prst="rect">
            <a:avLst/>
          </a:prstGeom>
          <a:solidFill>
            <a:schemeClr val="accent2">
              <a:alpha val="5000"/>
            </a:schemeClr>
          </a:solidFill>
          <a:ln/>
        </p:spPr>
      </p:sp>
      <p:sp>
        <p:nvSpPr>
          <p:cNvPr id="152" name="Ячейка 6-17"/>
          <p:cNvSpPr/>
          <p:nvPr/>
        </p:nvSpPr>
        <p:spPr>
          <a:xfrm>
            <a:off x="10671048" y="4983480"/>
            <a:ext cx="210312" cy="246888"/>
          </a:xfrm>
          <a:prstGeom prst="rect">
            <a:avLst/>
          </a:prstGeom>
          <a:solidFill>
            <a:schemeClr val="accent2">
              <a:alpha val="5000"/>
            </a:schemeClr>
          </a:solidFill>
          <a:ln/>
        </p:spPr>
      </p:sp>
      <p:sp>
        <p:nvSpPr>
          <p:cNvPr id="153" name="Ячейка 6-18"/>
          <p:cNvSpPr/>
          <p:nvPr/>
        </p:nvSpPr>
        <p:spPr>
          <a:xfrm>
            <a:off x="10908792" y="4983480"/>
            <a:ext cx="210312" cy="246888"/>
          </a:xfrm>
          <a:prstGeom prst="rect">
            <a:avLst/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154" name="Ячейка 6-19"/>
          <p:cNvSpPr/>
          <p:nvPr/>
        </p:nvSpPr>
        <p:spPr>
          <a:xfrm>
            <a:off x="11146536" y="4983480"/>
            <a:ext cx="210312" cy="246888"/>
          </a:xfrm>
          <a:prstGeom prst="rect">
            <a:avLst/>
          </a:prstGeom>
          <a:solidFill>
            <a:schemeClr val="accent2">
              <a:alpha val="17000"/>
            </a:schemeClr>
          </a:solidFill>
          <a:ln/>
        </p:spPr>
      </p:sp>
      <p:sp>
        <p:nvSpPr>
          <p:cNvPr id="155" name="Ячейка 7-0"/>
          <p:cNvSpPr/>
          <p:nvPr/>
        </p:nvSpPr>
        <p:spPr>
          <a:xfrm>
            <a:off x="6629400" y="5257800"/>
            <a:ext cx="210312" cy="246888"/>
          </a:xfrm>
          <a:prstGeom prst="rect">
            <a:avLst/>
          </a:prstGeom>
          <a:solidFill>
            <a:schemeClr val="accent2">
              <a:alpha val="19000"/>
            </a:schemeClr>
          </a:solidFill>
          <a:ln/>
        </p:spPr>
      </p:sp>
      <p:sp>
        <p:nvSpPr>
          <p:cNvPr id="156" name="Ячейка 7-1"/>
          <p:cNvSpPr/>
          <p:nvPr/>
        </p:nvSpPr>
        <p:spPr>
          <a:xfrm>
            <a:off x="6867144" y="5257800"/>
            <a:ext cx="210312" cy="246888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57" name="Ячейка 7-2"/>
          <p:cNvSpPr/>
          <p:nvPr/>
        </p:nvSpPr>
        <p:spPr>
          <a:xfrm>
            <a:off x="7104888" y="5257800"/>
            <a:ext cx="210312" cy="246888"/>
          </a:xfrm>
          <a:prstGeom prst="rect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158" name="Ячейка 7-3"/>
          <p:cNvSpPr/>
          <p:nvPr/>
        </p:nvSpPr>
        <p:spPr>
          <a:xfrm>
            <a:off x="7342632" y="5257800"/>
            <a:ext cx="210312" cy="246888"/>
          </a:xfrm>
          <a:prstGeom prst="rect">
            <a:avLst/>
          </a:prstGeom>
          <a:solidFill>
            <a:schemeClr val="accent2">
              <a:alpha val="32000"/>
            </a:schemeClr>
          </a:solidFill>
          <a:ln/>
        </p:spPr>
      </p:sp>
      <p:sp>
        <p:nvSpPr>
          <p:cNvPr id="159" name="Ячейка 7-4"/>
          <p:cNvSpPr/>
          <p:nvPr/>
        </p:nvSpPr>
        <p:spPr>
          <a:xfrm>
            <a:off x="7580376" y="5257800"/>
            <a:ext cx="210312" cy="246888"/>
          </a:xfrm>
          <a:prstGeom prst="rect">
            <a:avLst/>
          </a:prstGeom>
          <a:solidFill>
            <a:schemeClr val="accent2">
              <a:alpha val="31000"/>
            </a:schemeClr>
          </a:solidFill>
          <a:ln/>
        </p:spPr>
      </p:sp>
      <p:sp>
        <p:nvSpPr>
          <p:cNvPr id="160" name="Ячейка 7-5"/>
          <p:cNvSpPr/>
          <p:nvPr/>
        </p:nvSpPr>
        <p:spPr>
          <a:xfrm>
            <a:off x="7818120" y="5257800"/>
            <a:ext cx="210312" cy="246888"/>
          </a:xfrm>
          <a:prstGeom prst="rect">
            <a:avLst/>
          </a:prstGeom>
          <a:solidFill>
            <a:schemeClr val="accent2">
              <a:alpha val="29000"/>
            </a:schemeClr>
          </a:solidFill>
          <a:ln/>
        </p:spPr>
      </p:sp>
      <p:sp>
        <p:nvSpPr>
          <p:cNvPr id="161" name="Ячейка 7-6"/>
          <p:cNvSpPr/>
          <p:nvPr/>
        </p:nvSpPr>
        <p:spPr>
          <a:xfrm>
            <a:off x="8055864" y="5257800"/>
            <a:ext cx="210312" cy="246888"/>
          </a:xfrm>
          <a:prstGeom prst="rect">
            <a:avLst/>
          </a:prstGeom>
          <a:solidFill>
            <a:schemeClr val="accent2">
              <a:alpha val="27000"/>
            </a:schemeClr>
          </a:solidFill>
          <a:ln/>
        </p:spPr>
      </p:sp>
      <p:sp>
        <p:nvSpPr>
          <p:cNvPr id="162" name="Ячейка 7-7"/>
          <p:cNvSpPr/>
          <p:nvPr/>
        </p:nvSpPr>
        <p:spPr>
          <a:xfrm>
            <a:off x="8293608" y="5257800"/>
            <a:ext cx="210312" cy="246888"/>
          </a:xfrm>
          <a:prstGeom prst="rect">
            <a:avLst/>
          </a:prstGeom>
          <a:solidFill>
            <a:schemeClr val="accent2">
              <a:alpha val="24000"/>
            </a:schemeClr>
          </a:solidFill>
          <a:ln/>
        </p:spPr>
      </p:sp>
      <p:sp>
        <p:nvSpPr>
          <p:cNvPr id="163" name="Ячейка 7-8"/>
          <p:cNvSpPr/>
          <p:nvPr/>
        </p:nvSpPr>
        <p:spPr>
          <a:xfrm>
            <a:off x="8531352" y="5257800"/>
            <a:ext cx="210312" cy="246888"/>
          </a:xfrm>
          <a:prstGeom prst="rect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64" name="Ячейка 7-9"/>
          <p:cNvSpPr/>
          <p:nvPr/>
        </p:nvSpPr>
        <p:spPr>
          <a:xfrm>
            <a:off x="8769096" y="5257800"/>
            <a:ext cx="210312" cy="246888"/>
          </a:xfrm>
          <a:prstGeom prst="rect">
            <a:avLst/>
          </a:prstGeom>
          <a:solidFill>
            <a:schemeClr val="accent2">
              <a:alpha val="21000"/>
            </a:schemeClr>
          </a:solidFill>
          <a:ln/>
        </p:spPr>
      </p:sp>
      <p:sp>
        <p:nvSpPr>
          <p:cNvPr id="165" name="Ячейка 7-10"/>
          <p:cNvSpPr/>
          <p:nvPr/>
        </p:nvSpPr>
        <p:spPr>
          <a:xfrm>
            <a:off x="9006840" y="5257800"/>
            <a:ext cx="210312" cy="246888"/>
          </a:xfrm>
          <a:prstGeom prst="rect">
            <a:avLst/>
          </a:prstGeom>
          <a:solidFill>
            <a:schemeClr val="accent2">
              <a:alpha val="19000"/>
            </a:schemeClr>
          </a:solidFill>
          <a:ln/>
        </p:spPr>
      </p:sp>
      <p:sp>
        <p:nvSpPr>
          <p:cNvPr id="166" name="Ячейка 7-11"/>
          <p:cNvSpPr/>
          <p:nvPr/>
        </p:nvSpPr>
        <p:spPr>
          <a:xfrm>
            <a:off x="9244584" y="5257800"/>
            <a:ext cx="210312" cy="246888"/>
          </a:xfrm>
          <a:prstGeom prst="rect">
            <a:avLst/>
          </a:prstGeom>
          <a:solidFill>
            <a:schemeClr val="accent2">
              <a:alpha val="17000"/>
            </a:schemeClr>
          </a:solidFill>
          <a:ln/>
        </p:spPr>
      </p:sp>
      <p:sp>
        <p:nvSpPr>
          <p:cNvPr id="167" name="Ячейка 7-12"/>
          <p:cNvSpPr/>
          <p:nvPr/>
        </p:nvSpPr>
        <p:spPr>
          <a:xfrm>
            <a:off x="9482328" y="5257800"/>
            <a:ext cx="210312" cy="246888"/>
          </a:xfrm>
          <a:prstGeom prst="rect">
            <a:avLst/>
          </a:prstGeom>
          <a:solidFill>
            <a:schemeClr val="accent2">
              <a:alpha val="13000"/>
            </a:schemeClr>
          </a:solidFill>
          <a:ln/>
        </p:spPr>
      </p:sp>
      <p:sp>
        <p:nvSpPr>
          <p:cNvPr id="168" name="Ячейка 7-13"/>
          <p:cNvSpPr/>
          <p:nvPr/>
        </p:nvSpPr>
        <p:spPr>
          <a:xfrm>
            <a:off x="9720072" y="5257800"/>
            <a:ext cx="210312" cy="246888"/>
          </a:xfrm>
          <a:prstGeom prst="rect">
            <a:avLst/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169" name="Ячейка 7-14"/>
          <p:cNvSpPr/>
          <p:nvPr/>
        </p:nvSpPr>
        <p:spPr>
          <a:xfrm>
            <a:off x="9957816" y="5257800"/>
            <a:ext cx="210312" cy="246888"/>
          </a:xfrm>
          <a:prstGeom prst="rect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170" name="Ячейка 7-15"/>
          <p:cNvSpPr/>
          <p:nvPr/>
        </p:nvSpPr>
        <p:spPr>
          <a:xfrm>
            <a:off x="10195560" y="5257800"/>
            <a:ext cx="210312" cy="246888"/>
          </a:xfrm>
          <a:prstGeom prst="rect">
            <a:avLst/>
          </a:prstGeom>
          <a:solidFill>
            <a:schemeClr val="accent2">
              <a:alpha val="5000"/>
            </a:schemeClr>
          </a:solidFill>
          <a:ln/>
        </p:spPr>
      </p:sp>
      <p:sp>
        <p:nvSpPr>
          <p:cNvPr id="171" name="Ячейка 7-16"/>
          <p:cNvSpPr/>
          <p:nvPr/>
        </p:nvSpPr>
        <p:spPr>
          <a:xfrm>
            <a:off x="10433304" y="5257800"/>
            <a:ext cx="210312" cy="246888"/>
          </a:xfrm>
          <a:prstGeom prst="rect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172" name="Ячейка 7-17"/>
          <p:cNvSpPr/>
          <p:nvPr/>
        </p:nvSpPr>
        <p:spPr>
          <a:xfrm>
            <a:off x="10671048" y="5257800"/>
            <a:ext cx="210312" cy="246888"/>
          </a:xfrm>
          <a:prstGeom prst="rect">
            <a:avLst/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173" name="Ячейка 7-18"/>
          <p:cNvSpPr/>
          <p:nvPr/>
        </p:nvSpPr>
        <p:spPr>
          <a:xfrm>
            <a:off x="10908792" y="5257800"/>
            <a:ext cx="210312" cy="246888"/>
          </a:xfrm>
          <a:prstGeom prst="rect">
            <a:avLst/>
          </a:prstGeom>
          <a:solidFill>
            <a:schemeClr val="accent2">
              <a:alpha val="16000"/>
            </a:schemeClr>
          </a:solidFill>
          <a:ln/>
        </p:spPr>
      </p:sp>
      <p:sp>
        <p:nvSpPr>
          <p:cNvPr id="174" name="Ячейка 7-19"/>
          <p:cNvSpPr/>
          <p:nvPr/>
        </p:nvSpPr>
        <p:spPr>
          <a:xfrm>
            <a:off x="11146536" y="5257800"/>
            <a:ext cx="210312" cy="246888"/>
          </a:xfrm>
          <a:prstGeom prst="rect">
            <a:avLst/>
          </a:prstGeom>
          <a:solidFill>
            <a:schemeClr val="accent2">
              <a:alpha val="21000"/>
            </a:schemeClr>
          </a:solidFill>
          <a:ln/>
        </p:spPr>
      </p:sp>
      <p:sp>
        <p:nvSpPr>
          <p:cNvPr id="175" name="Ячейка 8-0"/>
          <p:cNvSpPr/>
          <p:nvPr/>
        </p:nvSpPr>
        <p:spPr>
          <a:xfrm>
            <a:off x="6629400" y="5532120"/>
            <a:ext cx="210312" cy="246888"/>
          </a:xfrm>
          <a:prstGeom prst="rect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76" name="Ячейка 8-1"/>
          <p:cNvSpPr/>
          <p:nvPr/>
        </p:nvSpPr>
        <p:spPr>
          <a:xfrm>
            <a:off x="6867144" y="5532120"/>
            <a:ext cx="210312" cy="246888"/>
          </a:xfrm>
          <a:prstGeom prst="rect">
            <a:avLst/>
          </a:prstGeom>
          <a:solidFill>
            <a:schemeClr val="accent2">
              <a:alpha val="23000"/>
            </a:schemeClr>
          </a:solidFill>
          <a:ln/>
        </p:spPr>
      </p:sp>
      <p:sp>
        <p:nvSpPr>
          <p:cNvPr id="177" name="Ячейка 8-2"/>
          <p:cNvSpPr/>
          <p:nvPr/>
        </p:nvSpPr>
        <p:spPr>
          <a:xfrm>
            <a:off x="7104888" y="5532120"/>
            <a:ext cx="210312" cy="246888"/>
          </a:xfrm>
          <a:prstGeom prst="rect">
            <a:avLst/>
          </a:prstGeom>
          <a:solidFill>
            <a:schemeClr val="accent2">
              <a:alpha val="24000"/>
            </a:schemeClr>
          </a:solidFill>
          <a:ln/>
        </p:spPr>
      </p:sp>
      <p:sp>
        <p:nvSpPr>
          <p:cNvPr id="178" name="Ячейка 8-3"/>
          <p:cNvSpPr/>
          <p:nvPr/>
        </p:nvSpPr>
        <p:spPr>
          <a:xfrm>
            <a:off x="7342632" y="5532120"/>
            <a:ext cx="210312" cy="246888"/>
          </a:xfrm>
          <a:prstGeom prst="rect">
            <a:avLst/>
          </a:prstGeom>
          <a:solidFill>
            <a:schemeClr val="accent2">
              <a:alpha val="23000"/>
            </a:schemeClr>
          </a:solidFill>
          <a:ln/>
        </p:spPr>
      </p:sp>
      <p:sp>
        <p:nvSpPr>
          <p:cNvPr id="179" name="Ячейка 8-4"/>
          <p:cNvSpPr/>
          <p:nvPr/>
        </p:nvSpPr>
        <p:spPr>
          <a:xfrm>
            <a:off x="7580376" y="5532120"/>
            <a:ext cx="210312" cy="246888"/>
          </a:xfrm>
          <a:prstGeom prst="rect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80" name="Ячейка 8-5"/>
          <p:cNvSpPr/>
          <p:nvPr/>
        </p:nvSpPr>
        <p:spPr>
          <a:xfrm>
            <a:off x="7818120" y="5532120"/>
            <a:ext cx="210312" cy="246888"/>
          </a:xfrm>
          <a:prstGeom prst="rect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181" name="Ячейка 8-6"/>
          <p:cNvSpPr/>
          <p:nvPr/>
        </p:nvSpPr>
        <p:spPr>
          <a:xfrm>
            <a:off x="8055864" y="5532120"/>
            <a:ext cx="210312" cy="246888"/>
          </a:xfrm>
          <a:prstGeom prst="rect">
            <a:avLst/>
          </a:prstGeom>
          <a:solidFill>
            <a:schemeClr val="accent2">
              <a:alpha val="17000"/>
            </a:schemeClr>
          </a:solidFill>
          <a:ln/>
        </p:spPr>
      </p:sp>
      <p:sp>
        <p:nvSpPr>
          <p:cNvPr id="182" name="Ячейка 8-7"/>
          <p:cNvSpPr/>
          <p:nvPr/>
        </p:nvSpPr>
        <p:spPr>
          <a:xfrm>
            <a:off x="8293608" y="5532120"/>
            <a:ext cx="210312" cy="246888"/>
          </a:xfrm>
          <a:prstGeom prst="rect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183" name="Ячейка 8-8"/>
          <p:cNvSpPr/>
          <p:nvPr/>
        </p:nvSpPr>
        <p:spPr>
          <a:xfrm>
            <a:off x="8531352" y="5532120"/>
            <a:ext cx="210312" cy="246888"/>
          </a:xfrm>
          <a:prstGeom prst="rect">
            <a:avLst/>
          </a:prstGeom>
          <a:solidFill>
            <a:schemeClr val="accent2">
              <a:alpha val="11000"/>
            </a:schemeClr>
          </a:solidFill>
          <a:ln/>
        </p:spPr>
      </p:sp>
      <p:sp>
        <p:nvSpPr>
          <p:cNvPr id="184" name="Ячейка 8-9"/>
          <p:cNvSpPr/>
          <p:nvPr/>
        </p:nvSpPr>
        <p:spPr>
          <a:xfrm>
            <a:off x="8769096" y="5532120"/>
            <a:ext cx="210312" cy="246888"/>
          </a:xfrm>
          <a:prstGeom prst="rect">
            <a:avLst/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185" name="Ячейка 8-10"/>
          <p:cNvSpPr/>
          <p:nvPr/>
        </p:nvSpPr>
        <p:spPr>
          <a:xfrm>
            <a:off x="9006840" y="5532120"/>
            <a:ext cx="210312" cy="246888"/>
          </a:xfrm>
          <a:prstGeom prst="rect">
            <a:avLst/>
          </a:prstGeom>
          <a:solidFill>
            <a:schemeClr val="accent2">
              <a:alpha val="7000"/>
            </a:schemeClr>
          </a:solidFill>
          <a:ln/>
        </p:spPr>
      </p:sp>
      <p:sp>
        <p:nvSpPr>
          <p:cNvPr id="186" name="Ячейка 8-11"/>
          <p:cNvSpPr/>
          <p:nvPr/>
        </p:nvSpPr>
        <p:spPr>
          <a:xfrm>
            <a:off x="9244584" y="5532120"/>
            <a:ext cx="210312" cy="246888"/>
          </a:xfrm>
          <a:prstGeom prst="rect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187" name="Ячейка 8-12"/>
          <p:cNvSpPr/>
          <p:nvPr/>
        </p:nvSpPr>
        <p:spPr>
          <a:xfrm>
            <a:off x="9482328" y="5532120"/>
            <a:ext cx="210312" cy="246888"/>
          </a:xfrm>
          <a:prstGeom prst="rect">
            <a:avLst/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188" name="Ячейка 8-13"/>
          <p:cNvSpPr/>
          <p:nvPr/>
        </p:nvSpPr>
        <p:spPr>
          <a:xfrm>
            <a:off x="9720072" y="5532120"/>
            <a:ext cx="210312" cy="246888"/>
          </a:xfrm>
          <a:prstGeom prst="rect">
            <a:avLst/>
          </a:prstGeom>
          <a:solidFill>
            <a:schemeClr val="accent2">
              <a:alpha val="7000"/>
            </a:schemeClr>
          </a:solidFill>
          <a:ln/>
        </p:spPr>
      </p:sp>
      <p:sp>
        <p:nvSpPr>
          <p:cNvPr id="189" name="Ячейка 8-14"/>
          <p:cNvSpPr/>
          <p:nvPr/>
        </p:nvSpPr>
        <p:spPr>
          <a:xfrm>
            <a:off x="9957816" y="5532120"/>
            <a:ext cx="210312" cy="246888"/>
          </a:xfrm>
          <a:prstGeom prst="rect">
            <a:avLst/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190" name="Ячейка 8-15"/>
          <p:cNvSpPr/>
          <p:nvPr/>
        </p:nvSpPr>
        <p:spPr>
          <a:xfrm>
            <a:off x="10195560" y="5532120"/>
            <a:ext cx="210312" cy="246888"/>
          </a:xfrm>
          <a:prstGeom prst="rect">
            <a:avLst/>
          </a:prstGeom>
          <a:solidFill>
            <a:schemeClr val="accent2">
              <a:alpha val="11000"/>
            </a:schemeClr>
          </a:solidFill>
          <a:ln/>
        </p:spPr>
      </p:sp>
      <p:sp>
        <p:nvSpPr>
          <p:cNvPr id="191" name="Ячейка 8-16"/>
          <p:cNvSpPr/>
          <p:nvPr/>
        </p:nvSpPr>
        <p:spPr>
          <a:xfrm>
            <a:off x="10433304" y="5532120"/>
            <a:ext cx="210312" cy="246888"/>
          </a:xfrm>
          <a:prstGeom prst="rect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192" name="Ячейка 8-17"/>
          <p:cNvSpPr/>
          <p:nvPr/>
        </p:nvSpPr>
        <p:spPr>
          <a:xfrm>
            <a:off x="10671048" y="5532120"/>
            <a:ext cx="210312" cy="246888"/>
          </a:xfrm>
          <a:prstGeom prst="rect">
            <a:avLst/>
          </a:prstGeom>
          <a:solidFill>
            <a:schemeClr val="accent2">
              <a:alpha val="17000"/>
            </a:schemeClr>
          </a:solidFill>
          <a:ln/>
        </p:spPr>
      </p:sp>
      <p:sp>
        <p:nvSpPr>
          <p:cNvPr id="193" name="Ячейка 8-18"/>
          <p:cNvSpPr/>
          <p:nvPr/>
        </p:nvSpPr>
        <p:spPr>
          <a:xfrm>
            <a:off x="10908792" y="5532120"/>
            <a:ext cx="210312" cy="246888"/>
          </a:xfrm>
          <a:prstGeom prst="rect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194" name="Ячейка 8-19"/>
          <p:cNvSpPr/>
          <p:nvPr/>
        </p:nvSpPr>
        <p:spPr>
          <a:xfrm>
            <a:off x="11146536" y="5532120"/>
            <a:ext cx="210312" cy="246888"/>
          </a:xfrm>
          <a:prstGeom prst="rect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195" name="Text 193"/>
          <p:cNvSpPr txBox="1"/>
          <p:nvPr/>
        </p:nvSpPr>
        <p:spPr>
          <a:xfrm>
            <a:off x="6629400" y="5852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3"/>
                </a:solidFill>
              </a:rPr>
              <a:t>время →</a:t>
            </a:r>
            <a:endParaRPr lang="en-US" sz="1200" dirty="0"/>
          </a:p>
        </p:txBody>
      </p:sp>
      <p:sp>
        <p:nvSpPr>
          <p:cNvPr id="196" name="Text 194"/>
          <p:cNvSpPr txBox="1"/>
          <p:nvPr/>
        </p:nvSpPr>
        <p:spPr>
          <a:xfrm>
            <a:off x="6629400" y="5852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↑ частота</a:t>
            </a:r>
            <a:endParaRPr lang="en-US" sz="1200" dirty="0"/>
          </a:p>
        </p:txBody>
      </p:sp>
      <p:sp>
        <p:nvSpPr>
          <p:cNvPr id="198" name="Этап 3"/>
          <p:cNvSpPr/>
          <p:nvPr/>
        </p:nvSpPr>
        <p:spPr>
          <a:xfrm>
            <a:off x="687457" y="2514600"/>
            <a:ext cx="4715785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 err="1">
                <a:solidFill>
                  <a:schemeClr val="accent1"/>
                </a:solidFill>
              </a:rPr>
              <a:t>Акустическая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модель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Конвейер системы синтеза </a:t>
            </a:r>
            <a:r>
              <a:rPr lang="en-US" sz="3600" b="1" dirty="0" err="1">
                <a:solidFill>
                  <a:schemeClr val="bg1"/>
                </a:solidFill>
              </a:rPr>
              <a:t>речи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smtClean="0">
                <a:solidFill>
                  <a:schemeClr val="bg1"/>
                </a:solidFill>
              </a:rPr>
              <a:t>-</a:t>
            </a:r>
            <a:r>
              <a:rPr lang="en-US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Этап 3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Этап 1"/>
          <p:cNvSpPr/>
          <p:nvPr/>
        </p:nvSpPr>
        <p:spPr>
          <a:xfrm>
            <a:off x="5486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1 · Обработка текста (NLP)</a:t>
            </a:r>
          </a:p>
        </p:txBody>
      </p:sp>
      <p:sp>
        <p:nvSpPr>
          <p:cNvPr id="4" name="Стрелка"/>
          <p:cNvSpPr txBox="1"/>
          <p:nvPr/>
        </p:nvSpPr>
        <p:spPr>
          <a:xfrm>
            <a:off x="38404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b="1">
                <a:solidFill>
                  <a:schemeClr val="bg1"/>
                </a:solidFill>
              </a:rPr>
              <a:t>-</a:t>
            </a:r>
            <a:endParaRPr lang="en-US" sz="2400" dirty="0"/>
          </a:p>
        </p:txBody>
      </p:sp>
      <p:sp>
        <p:nvSpPr>
          <p:cNvPr id="5" name="Этап 2"/>
          <p:cNvSpPr/>
          <p:nvPr/>
        </p:nvSpPr>
        <p:spPr>
          <a:xfrm>
            <a:off x="44348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/>
              <a:t>2 · Акустическая модель</a:t>
            </a:r>
          </a:p>
        </p:txBody>
      </p:sp>
      <p:sp>
        <p:nvSpPr>
          <p:cNvPr id="6" name="Стрелка"/>
          <p:cNvSpPr txBox="1"/>
          <p:nvPr/>
        </p:nvSpPr>
        <p:spPr>
          <a:xfrm>
            <a:off x="7726680" y="1280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-</a:t>
            </a:r>
            <a:endParaRPr lang="en-US" sz="2400" dirty="0"/>
          </a:p>
        </p:txBody>
      </p:sp>
      <p:sp>
        <p:nvSpPr>
          <p:cNvPr id="7" name="Этап 3"/>
          <p:cNvSpPr/>
          <p:nvPr/>
        </p:nvSpPr>
        <p:spPr>
          <a:xfrm>
            <a:off x="8321040" y="128016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 · Вокодер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chemeClr val="bg1"/>
                </a:solidFill>
              </a:rPr>
              <a:t>Мел-спектрограмма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-</a:t>
            </a:r>
            <a:r>
              <a:rPr lang="en-US" sz="2200" b="1" dirty="0" smtClean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Вокодер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-</a:t>
            </a:r>
            <a:r>
              <a:rPr lang="en-US" sz="2200" b="1" dirty="0" smtClean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Звуковая волна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Список вокодера"/>
          <p:cNvSpPr txBox="1"/>
          <p:nvPr/>
        </p:nvSpPr>
        <p:spPr>
          <a:xfrm>
            <a:off x="548640" y="31089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Восстанавливает каждое отдельное колебание звуковой волны.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Превращает спектрограмму в финальный аудиофайл (WAV/MP3).</a:t>
            </a:r>
          </a:p>
        </p:txBody>
      </p:sp>
      <p:sp>
        <p:nvSpPr>
          <p:cNvPr id="11" name="Карточка волны"/>
          <p:cNvSpPr/>
          <p:nvPr/>
        </p:nvSpPr>
        <p:spPr>
          <a:xfrm>
            <a:off x="6309360" y="2697480"/>
            <a:ext cx="53035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Звуковая </a:t>
            </a:r>
            <a:r>
              <a:rPr lang="en-US" sz="1300" b="1" dirty="0" err="1">
                <a:solidFill>
                  <a:schemeClr val="tx2"/>
                </a:solidFill>
              </a:rPr>
              <a:t>волна</a:t>
            </a:r>
            <a:r>
              <a:rPr lang="en-US" sz="1300" b="1" dirty="0">
                <a:solidFill>
                  <a:schemeClr val="tx2"/>
                </a:solidFill>
              </a:rPr>
              <a:t> </a:t>
            </a:r>
            <a:r>
              <a:rPr lang="ru-RU" sz="1300" b="1" dirty="0" smtClean="0">
                <a:solidFill>
                  <a:schemeClr val="tx2"/>
                </a:solidFill>
              </a:rPr>
              <a:t>-</a:t>
            </a:r>
            <a:r>
              <a:rPr lang="en-US" sz="1300" b="1" dirty="0" smtClean="0">
                <a:solidFill>
                  <a:schemeClr val="tx2"/>
                </a:solidFill>
              </a:rPr>
              <a:t> </a:t>
            </a:r>
            <a:r>
              <a:rPr lang="en-US" sz="1300" b="1" dirty="0">
                <a:solidFill>
                  <a:schemeClr val="tx2"/>
                </a:solidFill>
              </a:rPr>
              <a:t>WAV / MP3</a:t>
            </a:r>
            <a:endParaRPr lang="en-US" sz="1300" dirty="0"/>
          </a:p>
        </p:txBody>
      </p:sp>
      <p:sp>
        <p:nvSpPr>
          <p:cNvPr id="13" name="Колебание 1"/>
          <p:cNvSpPr/>
          <p:nvPr/>
        </p:nvSpPr>
        <p:spPr>
          <a:xfrm>
            <a:off x="6583680" y="3739896"/>
            <a:ext cx="91440" cy="109728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4" name="Колебание 2"/>
          <p:cNvSpPr/>
          <p:nvPr/>
        </p:nvSpPr>
        <p:spPr>
          <a:xfrm>
            <a:off x="6752844" y="3633316"/>
            <a:ext cx="91440" cy="322888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5" name="Колебание 3"/>
          <p:cNvSpPr/>
          <p:nvPr/>
        </p:nvSpPr>
        <p:spPr>
          <a:xfrm>
            <a:off x="6922008" y="3647171"/>
            <a:ext cx="91440" cy="295179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6" name="Колебание 4"/>
          <p:cNvSpPr/>
          <p:nvPr/>
        </p:nvSpPr>
        <p:spPr>
          <a:xfrm>
            <a:off x="7091172" y="3739460"/>
            <a:ext cx="91440" cy="110599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7" name="Колебание 5"/>
          <p:cNvSpPr/>
          <p:nvPr/>
        </p:nvSpPr>
        <p:spPr>
          <a:xfrm>
            <a:off x="7260336" y="3656470"/>
            <a:ext cx="91440" cy="276580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8" name="Колебание 6"/>
          <p:cNvSpPr/>
          <p:nvPr/>
        </p:nvSpPr>
        <p:spPr>
          <a:xfrm>
            <a:off x="7429500" y="3662382"/>
            <a:ext cx="91440" cy="264756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19" name="Колебание 7"/>
          <p:cNvSpPr/>
          <p:nvPr/>
        </p:nvSpPr>
        <p:spPr>
          <a:xfrm>
            <a:off x="7598664" y="3693251"/>
            <a:ext cx="91440" cy="203017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0" name="Колебание 8"/>
          <p:cNvSpPr/>
          <p:nvPr/>
        </p:nvSpPr>
        <p:spPr>
          <a:xfrm>
            <a:off x="7767828" y="3494185"/>
            <a:ext cx="91440" cy="601149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1" name="Колебание 9"/>
          <p:cNvSpPr/>
          <p:nvPr/>
        </p:nvSpPr>
        <p:spPr>
          <a:xfrm>
            <a:off x="7936992" y="3315464"/>
            <a:ext cx="91440" cy="958591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2" name="Колебание 10"/>
          <p:cNvSpPr/>
          <p:nvPr/>
        </p:nvSpPr>
        <p:spPr>
          <a:xfrm>
            <a:off x="8106156" y="3255567"/>
            <a:ext cx="91440" cy="1078385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3" name="Колебание 11"/>
          <p:cNvSpPr/>
          <p:nvPr/>
        </p:nvSpPr>
        <p:spPr>
          <a:xfrm>
            <a:off x="8275320" y="3364050"/>
            <a:ext cx="91440" cy="861420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4" name="Колебание 12"/>
          <p:cNvSpPr/>
          <p:nvPr/>
        </p:nvSpPr>
        <p:spPr>
          <a:xfrm>
            <a:off x="8444484" y="3613286"/>
            <a:ext cx="91440" cy="362948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5" name="Колебание 13"/>
          <p:cNvSpPr/>
          <p:nvPr/>
        </p:nvSpPr>
        <p:spPr>
          <a:xfrm>
            <a:off x="8613648" y="3570606"/>
            <a:ext cx="91440" cy="448307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6" name="Колебание 14"/>
          <p:cNvSpPr/>
          <p:nvPr/>
        </p:nvSpPr>
        <p:spPr>
          <a:xfrm>
            <a:off x="8782812" y="3344034"/>
            <a:ext cx="91440" cy="901452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7" name="Колебание 15"/>
          <p:cNvSpPr/>
          <p:nvPr/>
        </p:nvSpPr>
        <p:spPr>
          <a:xfrm>
            <a:off x="8951976" y="3268981"/>
            <a:ext cx="91440" cy="1051559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8" name="Колебание 16"/>
          <p:cNvSpPr/>
          <p:nvPr/>
        </p:nvSpPr>
        <p:spPr>
          <a:xfrm>
            <a:off x="9121140" y="3355505"/>
            <a:ext cx="91440" cy="878510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29" name="Колебание 17"/>
          <p:cNvSpPr/>
          <p:nvPr/>
        </p:nvSpPr>
        <p:spPr>
          <a:xfrm>
            <a:off x="9290304" y="3540016"/>
            <a:ext cx="91440" cy="509489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0" name="Колебание 18"/>
          <p:cNvSpPr/>
          <p:nvPr/>
        </p:nvSpPr>
        <p:spPr>
          <a:xfrm>
            <a:off x="9459468" y="3720882"/>
            <a:ext cx="91440" cy="147756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1" name="Колебание 19"/>
          <p:cNvSpPr/>
          <p:nvPr/>
        </p:nvSpPr>
        <p:spPr>
          <a:xfrm>
            <a:off x="9628632" y="3667541"/>
            <a:ext cx="91440" cy="254438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2" name="Колебание 20"/>
          <p:cNvSpPr/>
          <p:nvPr/>
        </p:nvSpPr>
        <p:spPr>
          <a:xfrm>
            <a:off x="9797796" y="3691960"/>
            <a:ext cx="91440" cy="205600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3" name="Колебание 21"/>
          <p:cNvSpPr/>
          <p:nvPr/>
        </p:nvSpPr>
        <p:spPr>
          <a:xfrm>
            <a:off x="9966960" y="3691891"/>
            <a:ext cx="91440" cy="205738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4" name="Колебание 22"/>
          <p:cNvSpPr/>
          <p:nvPr/>
        </p:nvSpPr>
        <p:spPr>
          <a:xfrm>
            <a:off x="10136124" y="3612060"/>
            <a:ext cx="91440" cy="365400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5" name="Колебание 23"/>
          <p:cNvSpPr/>
          <p:nvPr/>
        </p:nvSpPr>
        <p:spPr>
          <a:xfrm>
            <a:off x="10305288" y="3628697"/>
            <a:ext cx="91440" cy="332126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6" name="Колебание 24"/>
          <p:cNvSpPr/>
          <p:nvPr/>
        </p:nvSpPr>
        <p:spPr>
          <a:xfrm>
            <a:off x="10474452" y="3711884"/>
            <a:ext cx="91440" cy="165752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7" name="Колебание 25"/>
          <p:cNvSpPr/>
          <p:nvPr/>
        </p:nvSpPr>
        <p:spPr>
          <a:xfrm>
            <a:off x="10643616" y="3496367"/>
            <a:ext cx="91440" cy="596787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8" name="Колебание 26"/>
          <p:cNvSpPr/>
          <p:nvPr/>
        </p:nvSpPr>
        <p:spPr>
          <a:xfrm>
            <a:off x="10812780" y="3302384"/>
            <a:ext cx="91440" cy="984753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39" name="Колебание 27"/>
          <p:cNvSpPr/>
          <p:nvPr/>
        </p:nvSpPr>
        <p:spPr>
          <a:xfrm>
            <a:off x="10981944" y="3230083"/>
            <a:ext cx="91440" cy="1129355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40" name="Колебание 28"/>
          <p:cNvSpPr/>
          <p:nvPr/>
        </p:nvSpPr>
        <p:spPr>
          <a:xfrm>
            <a:off x="11151108" y="3329703"/>
            <a:ext cx="91440" cy="930113"/>
          </a:xfrm>
          <a:prstGeom prst="roundRect">
            <a:avLst>
              <a:gd name="adj" fmla="val 500000"/>
            </a:avLst>
          </a:prstGeom>
          <a:solidFill>
            <a:schemeClr val="accent1"/>
          </a:solidFill>
          <a:ln/>
        </p:spPr>
      </p:sp>
      <p:sp>
        <p:nvSpPr>
          <p:cNvPr id="41" name="Карточка клонирования голоса"/>
          <p:cNvSpPr/>
          <p:nvPr/>
        </p:nvSpPr>
        <p:spPr>
          <a:xfrm>
            <a:off x="548640" y="4663440"/>
            <a:ext cx="11064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Дополнительно: клонирование голоса</a:t>
            </a:r>
            <a:endParaRPr lang="en-US" sz="1800" dirty="0"/>
          </a:p>
        </p:txBody>
      </p:sp>
      <p:sp>
        <p:nvSpPr>
          <p:cNvPr id="43" name="Шаг клонирования 1"/>
          <p:cNvSpPr/>
          <p:nvPr/>
        </p:nvSpPr>
        <p:spPr>
          <a:xfrm>
            <a:off x="822960" y="525780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2"/>
                </a:solidFill>
              </a:rPr>
              <a:t>Анализ примера голоса</a:t>
            </a:r>
            <a:endParaRPr lang="en-US" dirty="0"/>
          </a:p>
        </p:txBody>
      </p:sp>
      <p:sp>
        <p:nvSpPr>
          <p:cNvPr id="44" name="Стрелка"/>
          <p:cNvSpPr txBox="1"/>
          <p:nvPr/>
        </p:nvSpPr>
        <p:spPr>
          <a:xfrm>
            <a:off x="3108960" y="5257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dirty="0" smtClean="0"/>
              <a:t>-</a:t>
            </a:r>
            <a:endParaRPr lang="en-US" sz="2400" dirty="0"/>
          </a:p>
        </p:txBody>
      </p:sp>
      <p:sp>
        <p:nvSpPr>
          <p:cNvPr id="45" name="Шаг клонирования 2"/>
          <p:cNvSpPr/>
          <p:nvPr/>
        </p:nvSpPr>
        <p:spPr>
          <a:xfrm>
            <a:off x="3566160" y="525780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2"/>
                </a:solidFill>
              </a:rPr>
              <a:t>Классификатор</a:t>
            </a:r>
            <a:endParaRPr lang="en-US" dirty="0"/>
          </a:p>
        </p:txBody>
      </p:sp>
      <p:sp>
        <p:nvSpPr>
          <p:cNvPr id="46" name="Стрелка"/>
          <p:cNvSpPr txBox="1"/>
          <p:nvPr/>
        </p:nvSpPr>
        <p:spPr>
          <a:xfrm>
            <a:off x="5852160" y="5257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400" dirty="0"/>
              <a:t>-</a:t>
            </a:r>
            <a:endParaRPr lang="en-US" sz="2400" dirty="0"/>
          </a:p>
        </p:txBody>
      </p:sp>
      <p:sp>
        <p:nvSpPr>
          <p:cNvPr id="47" name="Шаг клонирования 3"/>
          <p:cNvSpPr/>
          <p:nvPr/>
        </p:nvSpPr>
        <p:spPr>
          <a:xfrm>
            <a:off x="6309360" y="525780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Промежуточный вектор (тембр)</a:t>
            </a:r>
            <a:endParaRPr lang="en-US" dirty="0"/>
          </a:p>
        </p:txBody>
      </p:sp>
      <p:sp>
        <p:nvSpPr>
          <p:cNvPr id="48" name="Пояснение клонирования"/>
          <p:cNvSpPr txBox="1"/>
          <p:nvPr/>
        </p:nvSpPr>
        <p:spPr>
          <a:xfrm>
            <a:off x="8915400" y="52120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Позволяет синтезировать речь, имитирующую конкретного человека.</a:t>
            </a:r>
            <a:endParaRPr lang="en-US" dirty="0"/>
          </a:p>
        </p:txBody>
      </p:sp>
      <p:sp>
        <p:nvSpPr>
          <p:cNvPr id="50" name="Этап 3"/>
          <p:cNvSpPr/>
          <p:nvPr/>
        </p:nvSpPr>
        <p:spPr>
          <a:xfrm>
            <a:off x="551291" y="2560320"/>
            <a:ext cx="4715785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 err="1">
                <a:solidFill>
                  <a:schemeClr val="accent1"/>
                </a:solidFill>
              </a:rPr>
              <a:t>Вокодер</a:t>
            </a:r>
            <a:r>
              <a:rPr lang="en-US" sz="2400" b="1" dirty="0">
                <a:solidFill>
                  <a:schemeClr val="accent1"/>
                </a:solidFill>
              </a:rPr>
              <a:t> (</a:t>
            </a:r>
            <a:r>
              <a:rPr lang="en-US" sz="2400" b="1" dirty="0" err="1">
                <a:solidFill>
                  <a:schemeClr val="accent1"/>
                </a:solidFill>
              </a:rPr>
              <a:t>волновой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кодировщик</a:t>
            </a:r>
            <a:r>
              <a:rPr lang="en-US" sz="2400" b="1" dirty="0">
                <a:solidFill>
                  <a:schemeClr val="accent1"/>
                </a:solidFill>
              </a:rPr>
              <a:t>):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Эволюция подходов к синтезу речи</a:t>
            </a:r>
            <a:endParaRPr 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7" name="Таблица эволюции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586877"/>
              </p:ext>
            </p:extLst>
          </p:nvPr>
        </p:nvGraphicFramePr>
        <p:xfrm>
          <a:off x="548640" y="1298050"/>
          <a:ext cx="11064240" cy="53218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Поколение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Идея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Сильные стороны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Слабые стороны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Склейка (конкатенативный)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Склейка заранее записанных юнитов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Естественность тембра, высокая скорость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Монотонность, артефакты на стыках фраз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Параметрический (формантный)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Предсказание параметров + простой вокодер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Мало данных для обучения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Низкое качество, «роботизированный» звук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Нейросетевой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Tacotron 2 + WaveNet (механизм внимания)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Высокое качество и естественность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Медленная генерация в реальном времени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Диффузионный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Grad-TTS: постепенное удаление шума из спектрограммы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Отличный баланс качества и стабильности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Итеративность процесса (требует ресурсов)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End-to-End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VITS / F5-TTS: объединение всех этапов в одну сеть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Высокая скорость, отличное клонирование голоса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Требует GPU для обучения и инференса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Сравнение акустических моделей (метрики)</a:t>
            </a:r>
            <a:endParaRPr 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8" name="Таблица метрик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57205"/>
              </p:ext>
            </p:extLst>
          </p:nvPr>
        </p:nvGraphicFramePr>
        <p:xfrm>
          <a:off x="548640" y="1417320"/>
          <a:ext cx="6583680" cy="3718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Модель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MOS (качество, из 5)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RTF (скорость)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Grad-TTS-1000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4.44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3.663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Grad-TTS-10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4.38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0.033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Tacotron 2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4.32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0.075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Glow-TTS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4.11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0.008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</a:rPr>
                        <a:t>FastSpeech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3.68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0.004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Речь человека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4.53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1.0</a:t>
                      </a:r>
                      <a:endParaRPr lang="en-US" sz="2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Карточка MOS"/>
          <p:cNvSpPr/>
          <p:nvPr/>
        </p:nvSpPr>
        <p:spPr>
          <a:xfrm>
            <a:off x="7498080" y="1417320"/>
            <a:ext cx="41148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MOS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93852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Mean Opinion Score </a:t>
            </a:r>
            <a:r>
              <a:rPr lang="ru-RU" dirty="0" smtClean="0">
                <a:solidFill>
                  <a:schemeClr val="tx1"/>
                </a:solidFill>
              </a:rPr>
              <a:t>-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средняя субъективная оценка естественности от людей.</a:t>
            </a:r>
            <a:endParaRPr lang="en-US" dirty="0"/>
          </a:p>
        </p:txBody>
      </p:sp>
      <p:sp>
        <p:nvSpPr>
          <p:cNvPr id="7" name="Карточка RTF"/>
          <p:cNvSpPr/>
          <p:nvPr/>
        </p:nvSpPr>
        <p:spPr>
          <a:xfrm>
            <a:off x="7498080" y="3291840"/>
            <a:ext cx="411480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3" name="Text 5"/>
          <p:cNvSpPr txBox="1"/>
          <p:nvPr/>
        </p:nvSpPr>
        <p:spPr>
          <a:xfrm>
            <a:off x="7772400" y="3410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RTF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81304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Real Time Factor = время работы / длительность результата (чем меньше, тем быстрее).</a:t>
            </a:r>
            <a:endParaRPr lang="en-US" dirty="0"/>
          </a:p>
        </p:txBody>
      </p:sp>
      <p:sp>
        <p:nvSpPr>
          <p:cNvPr id="10" name="Вывод по метрикам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Grad-TTS-1000 лучше всех по качеству (4.44), но RTF 3.663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медленнее реального времени. Grad-TTS-10 сохраняет качество 4.38 при RTF 0.033.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Применение синтеза речи на предприятии ЧКПЗ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Карточка 1"/>
          <p:cNvSpPr/>
          <p:nvPr/>
        </p:nvSpPr>
        <p:spPr>
          <a:xfrm>
            <a:off x="548640" y="1463040"/>
            <a:ext cx="2029968" cy="45720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/>
        </p:spPr>
      </p:sp>
      <p:sp>
        <p:nvSpPr>
          <p:cNvPr id="4" name="Номер 1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Охрана труда и инструктажи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Автоматическое озвучивание инструкций, мгновенное обновление без записи диктора.</a:t>
            </a:r>
            <a:endParaRPr lang="en-US" dirty="0"/>
          </a:p>
        </p:txBody>
      </p:sp>
      <p:sp>
        <p:nvSpPr>
          <p:cNvPr id="7" name="Карточка 2"/>
          <p:cNvSpPr/>
          <p:nvPr/>
        </p:nvSpPr>
        <p:spPr>
          <a:xfrm>
            <a:off x="2807208" y="1463040"/>
            <a:ext cx="2029968" cy="45720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/>
        </p:spPr>
      </p:sp>
      <p:sp>
        <p:nvSpPr>
          <p:cNvPr id="8" name="Номер 2"/>
          <p:cNvSpPr/>
          <p:nvPr/>
        </p:nvSpPr>
        <p:spPr>
          <a:xfrm>
            <a:off x="2990088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423160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Оповещение в цехах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342900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Аварийные объявления, смена режима работы пресса, эвакуация (голос работает там, где визуальный экран бесполезен).</a:t>
            </a:r>
            <a:endParaRPr lang="en-US" dirty="0"/>
          </a:p>
        </p:txBody>
      </p:sp>
      <p:sp>
        <p:nvSpPr>
          <p:cNvPr id="11" name="Карточка 3"/>
          <p:cNvSpPr/>
          <p:nvPr/>
        </p:nvSpPr>
        <p:spPr>
          <a:xfrm>
            <a:off x="5065776" y="1463040"/>
            <a:ext cx="2029968" cy="45720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/>
        </p:spPr>
      </p:sp>
      <p:sp>
        <p:nvSpPr>
          <p:cNvPr id="12" name="Номер 3"/>
          <p:cNvSpPr/>
          <p:nvPr/>
        </p:nvSpPr>
        <p:spPr>
          <a:xfrm>
            <a:off x="5248656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48656" y="2423160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Голосовые подсказки операторам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48656" y="342900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Руки заняты заготовкой или штампом, читать техкарту нельзя.</a:t>
            </a:r>
            <a:endParaRPr lang="en-US" dirty="0"/>
          </a:p>
        </p:txBody>
      </p:sp>
      <p:sp>
        <p:nvSpPr>
          <p:cNvPr id="15" name="Карточка 4"/>
          <p:cNvSpPr/>
          <p:nvPr/>
        </p:nvSpPr>
        <p:spPr>
          <a:xfrm>
            <a:off x="7324344" y="1463040"/>
            <a:ext cx="2029968" cy="45720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/>
        </p:spPr>
      </p:sp>
      <p:sp>
        <p:nvSpPr>
          <p:cNvPr id="16" name="Номер 4"/>
          <p:cNvSpPr/>
          <p:nvPr/>
        </p:nvSpPr>
        <p:spPr>
          <a:xfrm>
            <a:off x="7507224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07224" y="2423160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Обучение и адаптация новичков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07224" y="342900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Курсы, регламенты и ГОСТы в доступном аудиоформате.</a:t>
            </a:r>
            <a:endParaRPr lang="en-US" dirty="0"/>
          </a:p>
        </p:txBody>
      </p:sp>
      <p:sp>
        <p:nvSpPr>
          <p:cNvPr id="19" name="Карточка 5"/>
          <p:cNvSpPr/>
          <p:nvPr/>
        </p:nvSpPr>
        <p:spPr>
          <a:xfrm>
            <a:off x="9582912" y="1463040"/>
            <a:ext cx="2029968" cy="4572000"/>
          </a:xfrm>
          <a:prstGeom prst="roundRect">
            <a:avLst>
              <a:gd name="adj" fmla="val 3604"/>
            </a:avLst>
          </a:prstGeom>
          <a:solidFill>
            <a:schemeClr val="bg2"/>
          </a:solidFill>
          <a:ln/>
        </p:spPr>
      </p:sp>
      <p:sp>
        <p:nvSpPr>
          <p:cNvPr id="20" name="Номер 5"/>
          <p:cNvSpPr/>
          <p:nvPr/>
        </p:nvSpPr>
        <p:spPr>
          <a:xfrm>
            <a:off x="9765792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765792" y="2423160"/>
            <a:ext cx="1664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Диспетчеризация и логистика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342900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Автоматические объявления на складах, в отгрузке, на проходной.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Сравнение систем синтеза речи</a:t>
            </a:r>
            <a:endParaRPr 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10" name="Таблица сервис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786836"/>
              </p:ext>
            </p:extLst>
          </p:nvPr>
        </p:nvGraphicFramePr>
        <p:xfrm>
          <a:off x="548640" y="1371600"/>
          <a:ext cx="11064240" cy="3337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Сервис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Преимущества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Недостатки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Стоимость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Yandex SpeechKit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Лучшее качество русского языка, полная поддержка SSML, соответствие 152-ФЗ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Требует интернет, данные проходят через облако РФ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~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150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300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₽ за 1 млн символов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ElevenLabs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Лучшее в индустрии клонирование голоса, мультиязычность, естественность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Сложности с оплатой из РФ, данные хранятся за рубежом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От $5/мес (30 000 символов)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openbmb/VoxCPM2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Открытая модель, работает локально (On-premise), клонирование голоса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Требует GPU (8+ ГБ памяти), нужна своя инфраструктура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Бесплатно (свой сервер)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Вывод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Вывод: </a:t>
            </a:r>
            <a:r>
              <a:rPr lang="en-US" sz="2000" dirty="0">
                <a:solidFill>
                  <a:schemeClr val="bg1"/>
                </a:solidFill>
              </a:rPr>
              <a:t>Yandex подходит для офисных задач, VoxCPM2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для безопасного локального развёртывания в цехах, </a:t>
            </a:r>
            <a:r>
              <a:rPr lang="en-US" sz="2000" dirty="0" err="1">
                <a:solidFill>
                  <a:schemeClr val="bg1"/>
                </a:solidFill>
              </a:rPr>
              <a:t>ElevenLabs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для создания уникального корпоративного голоса (при решении вопросов оплаты).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Заключение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Ключевые выводы</a:t>
            </a:r>
            <a:endParaRPr lang="en-US" sz="2000" dirty="0"/>
          </a:p>
        </p:txBody>
      </p:sp>
      <p:sp>
        <p:nvSpPr>
          <p:cNvPr id="4" name="Номер 1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Вывод 1"/>
          <p:cNvSpPr txBox="1"/>
          <p:nvPr/>
        </p:nvSpPr>
        <p:spPr>
          <a:xfrm>
            <a:off x="1280160" y="1965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TTS эволюционировала от склейки записей к нейросетям, чьё качество (MOS </a:t>
            </a:r>
            <a:r>
              <a:rPr lang="en-US" sz="2000" dirty="0" smtClean="0">
                <a:solidFill>
                  <a:schemeClr val="bg1"/>
                </a:solidFill>
              </a:rPr>
              <a:t>4.4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4.5</a:t>
            </a:r>
            <a:r>
              <a:rPr lang="en-US" sz="2000" dirty="0">
                <a:solidFill>
                  <a:schemeClr val="bg1"/>
                </a:solidFill>
              </a:rPr>
              <a:t>) практически неотличимо от человека.</a:t>
            </a:r>
            <a:endParaRPr lang="en-US" sz="2000" dirty="0"/>
          </a:p>
        </p:txBody>
      </p:sp>
      <p:sp>
        <p:nvSpPr>
          <p:cNvPr id="6" name="Номер 2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Вывод 2"/>
          <p:cNvSpPr txBox="1"/>
          <p:nvPr/>
        </p:nvSpPr>
        <p:spPr>
          <a:xfrm>
            <a:off x="1280160" y="33375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Схема «NLP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акустическая </a:t>
            </a:r>
            <a:r>
              <a:rPr lang="en-US" sz="2000" dirty="0" err="1">
                <a:solidFill>
                  <a:schemeClr val="bg1"/>
                </a:solidFill>
              </a:rPr>
              <a:t>модель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вокодер» остаётся основой, но тренд смещается в сторону End-to-End моделей.</a:t>
            </a:r>
            <a:endParaRPr lang="en-US" sz="2000" dirty="0"/>
          </a:p>
        </p:txBody>
      </p:sp>
      <p:sp>
        <p:nvSpPr>
          <p:cNvPr id="8" name="Номер 3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Вывод 3"/>
          <p:cNvSpPr txBox="1"/>
          <p:nvPr/>
        </p:nvSpPr>
        <p:spPr>
          <a:xfrm>
            <a:off x="1280160" y="47091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Для предприятия синтез речи экономически выгоден в инструктажах, оповещениях и обучении, устраняя необходимость в постоянных услугах диктора.</a:t>
            </a:r>
            <a:endParaRPr lang="en-US" sz="2000" dirty="0"/>
          </a:p>
        </p:txBody>
      </p:sp>
      <p:sp>
        <p:nvSpPr>
          <p:cNvPr id="10" name="Карточка рекомендации"/>
          <p:cNvSpPr/>
          <p:nvPr/>
        </p:nvSpPr>
        <p:spPr>
          <a:xfrm>
            <a:off x="7406640" y="1371600"/>
            <a:ext cx="4206240" cy="4663440"/>
          </a:xfrm>
          <a:prstGeom prst="roundRect">
            <a:avLst>
              <a:gd name="adj" fmla="val 1739"/>
            </a:avLst>
          </a:prstGeom>
          <a:solidFill>
            <a:schemeClr val="accent1"/>
          </a:solidFill>
          <a:ln/>
        </p:spPr>
      </p:sp>
      <p:sp>
        <p:nvSpPr>
          <p:cNvPr id="11" name="Номер 4"/>
          <p:cNvSpPr/>
          <p:nvPr/>
        </p:nvSpPr>
        <p:spPr>
          <a:xfrm>
            <a:off x="7680960" y="16459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377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Рекомендация для ЧКПЗ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2004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Гибридный подход.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Yandex SpeechKit для облачных/офисных задач + локальное развёртывание open-source модели (VoxCPM2/Silero) для закрытых цеховых контуров.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Постановка задачи на проект. Backend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Цель: </a:t>
            </a:r>
            <a:r>
              <a:rPr lang="en-US" sz="2400" dirty="0">
                <a:solidFill>
                  <a:schemeClr val="bg1"/>
                </a:solidFill>
              </a:rPr>
              <a:t>разработать надёжное REST API, связывающее пользовательский интерфейс и TTS-движок.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accent3"/>
                </a:solidFill>
              </a:rPr>
              <a:t>АРХИТЕКТУРА: ТРЁХЗВЕННАЯ</a:t>
            </a:r>
            <a:endParaRPr lang="en-US" sz="1600" dirty="0"/>
          </a:p>
        </p:txBody>
      </p:sp>
      <p:sp>
        <p:nvSpPr>
          <p:cNvPr id="5" name="Звено 1"/>
          <p:cNvSpPr/>
          <p:nvPr/>
        </p:nvSpPr>
        <p:spPr>
          <a:xfrm>
            <a:off x="548640" y="2194560"/>
            <a:ext cx="3108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Клиент</a:t>
            </a:r>
            <a:endParaRPr lang="en-US" sz="1700" dirty="0"/>
          </a:p>
        </p:txBody>
      </p:sp>
      <p:sp>
        <p:nvSpPr>
          <p:cNvPr id="6" name="Стрелка"/>
          <p:cNvSpPr txBox="1"/>
          <p:nvPr/>
        </p:nvSpPr>
        <p:spPr>
          <a:xfrm>
            <a:off x="3657600" y="21945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dirty="0">
                <a:solidFill>
                  <a:schemeClr val="accent3"/>
                </a:solidFill>
              </a:rPr>
              <a:t>-</a:t>
            </a:r>
            <a:endParaRPr lang="en-US" sz="2400" dirty="0"/>
          </a:p>
        </p:txBody>
      </p:sp>
      <p:sp>
        <p:nvSpPr>
          <p:cNvPr id="7" name="Звено 2"/>
          <p:cNvSpPr/>
          <p:nvPr/>
        </p:nvSpPr>
        <p:spPr>
          <a:xfrm>
            <a:off x="4251960" y="2194560"/>
            <a:ext cx="310896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Backend</a:t>
            </a:r>
            <a:endParaRPr lang="en-US" sz="1700" dirty="0"/>
          </a:p>
        </p:txBody>
      </p:sp>
      <p:sp>
        <p:nvSpPr>
          <p:cNvPr id="8" name="Стрелка"/>
          <p:cNvSpPr txBox="1"/>
          <p:nvPr/>
        </p:nvSpPr>
        <p:spPr>
          <a:xfrm>
            <a:off x="7360920" y="21945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400" dirty="0" smtClean="0">
                <a:solidFill>
                  <a:schemeClr val="accent3"/>
                </a:solidFill>
              </a:rPr>
              <a:t>-</a:t>
            </a:r>
            <a:endParaRPr lang="en-US" sz="2400" dirty="0"/>
          </a:p>
        </p:txBody>
      </p:sp>
      <p:sp>
        <p:nvSpPr>
          <p:cNvPr id="9" name="Звено 3"/>
          <p:cNvSpPr/>
          <p:nvPr/>
        </p:nvSpPr>
        <p:spPr>
          <a:xfrm>
            <a:off x="7955280" y="2194560"/>
            <a:ext cx="36576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TTS API / Локальная модель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accent3"/>
                </a:solidFill>
              </a:rPr>
              <a:t>КЛЮЧЕВЫЕ ЭНДПОИНТЫ (API-КОНТРАКТ)</a:t>
            </a:r>
            <a:endParaRPr lang="en-US" sz="1600" dirty="0"/>
          </a:p>
        </p:txBody>
      </p:sp>
      <p:graphicFrame>
        <p:nvGraphicFramePr>
          <p:cNvPr id="12" name="Таблица эндпоинтов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386292"/>
              </p:ext>
            </p:extLst>
          </p:nvPr>
        </p:nvGraphicFramePr>
        <p:xfrm>
          <a:off x="548640" y="3383280"/>
          <a:ext cx="11064240" cy="215798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Метод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Эндпоинт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Назначение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GET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/api/v1/voices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Получение списка доступных голосов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/api/v1/voices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Регистрация нового голоса (приём аудиосэмпла для клонирования)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/api/v1/synthesize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Приём текста и voice_id, возврат ссылки на готовый аудиофайл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GET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/api/v1/history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Выгрузка журнала генераций для конкретного пользователя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Хранение"/>
          <p:cNvSpPr/>
          <p:nvPr/>
        </p:nvSpPr>
        <p:spPr>
          <a:xfrm>
            <a:off x="548640" y="5577840"/>
            <a:ext cx="1106424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55778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</a:rPr>
              <a:t>Хранение: </a:t>
            </a:r>
            <a:r>
              <a:rPr lang="en-US" dirty="0">
                <a:solidFill>
                  <a:schemeClr val="bg1"/>
                </a:solidFill>
              </a:rPr>
              <a:t>метаданные в PostgreSQL, аудиофайлы в локальной файловой системе или S3-хранилище.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Постановка задачи на проект. Frontend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Цель: </a:t>
            </a:r>
            <a:r>
              <a:rPr lang="en-US" sz="2000" dirty="0">
                <a:solidFill>
                  <a:schemeClr val="bg1"/>
                </a:solidFill>
              </a:rPr>
              <a:t>создать интуитивный веб-интерфейс (Dashboard) для диспетчеров и мастеров ЧКПЗ.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accent3"/>
                </a:solidFill>
              </a:rPr>
              <a:t>КЛЮЧЕВЫЕ ЭКРАНЫ (MVP)</a:t>
            </a:r>
            <a:endParaRPr lang="en-US" sz="1600" dirty="0"/>
          </a:p>
        </p:txBody>
      </p:sp>
      <p:sp>
        <p:nvSpPr>
          <p:cNvPr id="5" name="Экран 1"/>
          <p:cNvSpPr/>
          <p:nvPr/>
        </p:nvSpPr>
        <p:spPr>
          <a:xfrm>
            <a:off x="502920" y="2240280"/>
            <a:ext cx="3502152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6" name="Номер 1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Библиотека голосов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Управление шаблонами: выбор из готовых или загрузка 30-секундного сэмпла.</a:t>
            </a:r>
            <a:endParaRPr lang="en-US" dirty="0"/>
          </a:p>
        </p:txBody>
      </p:sp>
      <p:sp>
        <p:nvSpPr>
          <p:cNvPr id="9" name="Экран 2"/>
          <p:cNvSpPr/>
          <p:nvPr/>
        </p:nvSpPr>
        <p:spPr>
          <a:xfrm>
            <a:off x="4325112" y="2240280"/>
            <a:ext cx="3502152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0" name="Номер 2"/>
          <p:cNvSpPr/>
          <p:nvPr/>
        </p:nvSpPr>
        <p:spPr>
          <a:xfrm>
            <a:off x="4599432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3291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Студия генерации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79476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Текстовое поле для инструктажа, выбор голоса, настройка скорости/пауз (SSML), кнопка «Сгенерировать» и встроенный аудиоплеер.</a:t>
            </a:r>
            <a:endParaRPr lang="en-US" sz="1600" dirty="0"/>
          </a:p>
        </p:txBody>
      </p:sp>
      <p:sp>
        <p:nvSpPr>
          <p:cNvPr id="13" name="Экран 3"/>
          <p:cNvSpPr/>
          <p:nvPr/>
        </p:nvSpPr>
        <p:spPr>
          <a:xfrm>
            <a:off x="8101584" y="2240280"/>
            <a:ext cx="3502152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4" name="Номер 3"/>
          <p:cNvSpPr/>
          <p:nvPr/>
        </p:nvSpPr>
        <p:spPr>
          <a:xfrm>
            <a:off x="8375904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3291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История операций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3794760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Таблица с датой, текстом, использованным голосом и кнопкой повторного скачивания.</a:t>
            </a:r>
            <a:endParaRPr lang="en-US" dirty="0"/>
          </a:p>
        </p:txBody>
      </p:sp>
      <p:sp>
        <p:nvSpPr>
          <p:cNvPr id="17" name="Стек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Стек: </a:t>
            </a:r>
            <a:r>
              <a:rPr lang="en-US" sz="2000" dirty="0">
                <a:solidFill>
                  <a:schemeClr val="bg1"/>
                </a:solidFill>
              </a:rPr>
              <a:t>HTML/CSS/JS (или React), адаптивная вёрстка для работы с планшетов в цеху.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Постановка задачи на проект. Модель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Цель: </a:t>
            </a:r>
            <a:r>
              <a:rPr lang="en-US" sz="2400" dirty="0">
                <a:solidFill>
                  <a:schemeClr val="bg1"/>
                </a:solidFill>
              </a:rPr>
              <a:t>обеспечить качественную и безопасную генерацию речи с учётом специфики терминологии ЧКПЗ.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accent3"/>
                </a:solidFill>
              </a:rPr>
              <a:t>СТРАТЕГИЯ РЕАЛИЗАЦИИ (3 УРОВНЯ)</a:t>
            </a:r>
            <a:endParaRPr lang="en-US" sz="1600" dirty="0"/>
          </a:p>
        </p:txBody>
      </p:sp>
      <p:sp>
        <p:nvSpPr>
          <p:cNvPr id="5" name="Уровень 1"/>
          <p:cNvSpPr/>
          <p:nvPr/>
        </p:nvSpPr>
        <p:spPr>
          <a:xfrm>
            <a:off x="548640" y="224028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6" name="Номер 1"/>
          <p:cNvSpPr/>
          <p:nvPr/>
        </p:nvSpPr>
        <p:spPr>
          <a:xfrm>
            <a:off x="822960" y="254203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40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MVP (быстрый старт)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2402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Использование облачного API (Yandex SpeechKit) для проверки гипотезы и офисных задач.</a:t>
            </a:r>
            <a:endParaRPr lang="en-US" sz="2000" dirty="0"/>
          </a:p>
        </p:txBody>
      </p:sp>
      <p:sp>
        <p:nvSpPr>
          <p:cNvPr id="9" name="Уровень 2"/>
          <p:cNvSpPr/>
          <p:nvPr/>
        </p:nvSpPr>
        <p:spPr>
          <a:xfrm>
            <a:off x="548640" y="3575304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Номер 2"/>
          <p:cNvSpPr/>
          <p:nvPr/>
        </p:nvSpPr>
        <p:spPr>
          <a:xfrm>
            <a:off x="822960" y="3877056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575304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Целевой (Fine-tuning)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575304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Дообучение открытой модели (например, openbmb/VoxCPM2 или Silero) на небольшом датасете (30–60 минут) с реальными цеховыми инструкциями.</a:t>
            </a:r>
            <a:endParaRPr lang="en-US" sz="2000" dirty="0"/>
          </a:p>
        </p:txBody>
      </p:sp>
      <p:sp>
        <p:nvSpPr>
          <p:cNvPr id="13" name="Уровень 3"/>
          <p:cNvSpPr/>
          <p:nvPr/>
        </p:nvSpPr>
        <p:spPr>
          <a:xfrm>
            <a:off x="548640" y="4910328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Номер 3"/>
          <p:cNvSpPr/>
          <p:nvPr/>
        </p:nvSpPr>
        <p:spPr>
          <a:xfrm>
            <a:off x="822960" y="5212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91032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Перспектива (R&amp;D)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4910328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Развёртывание дообученной модели на локальном сервере завода для работы без интернета и гарантии безопасности данных (On-premise).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Список источников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Список источников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Официальная документация Yandex SpeechKit [Электронный ресурс].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Режим доступа: https://cloud.yandex.ru/docs/speechkit</a:t>
            </a:r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Официальный репозиторий Silero Models: предобученные модели синтеза речи [Электронный ресурс]. </a:t>
            </a:r>
            <a:r>
              <a:rPr lang="ru-RU" sz="2000" dirty="0" smtClean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GitHub. </a:t>
            </a:r>
            <a:r>
              <a:rPr lang="ru-RU" sz="2000" dirty="0">
                <a:solidFill>
                  <a:schemeClr val="bg1"/>
                </a:solidFill>
              </a:rPr>
              <a:t>-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Режим доступа: https://github.com/snakers4/silero-models</a:t>
            </a:r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Синтез речи: основные подходы и архитектуры // Викиконспекты ИТМО [Электронный ресурс]. </a:t>
            </a:r>
            <a:r>
              <a:rPr lang="ru-RU" sz="2000" dirty="0">
                <a:solidFill>
                  <a:schemeClr val="bg1"/>
                </a:solidFill>
              </a:rPr>
              <a:t>-</a:t>
            </a:r>
            <a:r>
              <a:rPr lang="en-US" sz="2000" dirty="0" err="1" smtClean="0">
                <a:solidFill>
                  <a:schemeClr val="bg1"/>
                </a:solidFill>
              </a:rPr>
              <a:t>Режим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доступа: https://neerc.ifmo.ru/wiki/index.php?title=Синтез_речи</a:t>
            </a:r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Обзор современных технологий синтеза речи (TTS): от Tacotron до VITS // Хабр [Электронный ресурс].</a:t>
            </a:r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Модель openbmb/VoxCPM и документация // Платформа Hugging Face [Электронный ресурс]. </a:t>
            </a:r>
            <a:r>
              <a:rPr lang="ru-RU" sz="2000">
                <a:solidFill>
                  <a:schemeClr val="bg1"/>
                </a:solidFill>
              </a:rPr>
              <a:t>-</a:t>
            </a:r>
            <a:r>
              <a:rPr lang="en-US" sz="2000" smtClean="0">
                <a:solidFill>
                  <a:schemeClr val="bg1"/>
                </a:solidFill>
              </a:rPr>
              <a:t>Режим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доступа: https://huggingface.co/openbmb/VoxCPM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ЧКПЗ Минимализм">
  <a:themeElements>
    <a:clrScheme name="ЧКПЗ Минимализм">
      <a:dk1>
        <a:srgbClr val="1B2430"/>
      </a:dk1>
      <a:lt1>
        <a:srgbClr val="FFFFFF"/>
      </a:lt1>
      <a:dk2>
        <a:srgbClr val="14243B"/>
      </a:dk2>
      <a:lt2>
        <a:srgbClr val="F1F4F7"/>
      </a:lt2>
      <a:accent1>
        <a:srgbClr val="C8431B"/>
      </a:accent1>
      <a:accent2>
        <a:srgbClr val="2E5E8C"/>
      </a:accent2>
      <a:accent3>
        <a:srgbClr val="6B7A8C"/>
      </a:accent3>
      <a:accent4>
        <a:srgbClr val="A9B8C8"/>
      </a:accent4>
      <a:accent5>
        <a:srgbClr val="3A8F85"/>
      </a:accent5>
      <a:accent6>
        <a:srgbClr val="C9A227"/>
      </a:accent6>
      <a:hlink>
        <a:srgbClr val="2E5E8C"/>
      </a:hlink>
      <a:folHlink>
        <a:srgbClr val="6B7A8C"/>
      </a:folHlink>
    </a:clrScheme>
    <a:fontScheme name="ЧКПЗ Минимализм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1269</Words>
  <Application>Microsoft Office PowerPoint</Application>
  <PresentationFormat>Широкоэкранный</PresentationFormat>
  <Paragraphs>222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ЧКПЗ Минимализм</vt:lpstr>
      <vt:lpstr>Сравнение систем синтеза речи (TTS)</vt:lpstr>
      <vt:lpstr>Цель и задачи</vt:lpstr>
      <vt:lpstr>Конвейер системы синтеза речи - Этап 1</vt:lpstr>
      <vt:lpstr>Конвейер системы синтеза речи - Этап 2</vt:lpstr>
      <vt:lpstr>Конвейер системы синтеза речи - Этап 3</vt:lpstr>
      <vt:lpstr>Эволюция подходов к синтезу речи</vt:lpstr>
      <vt:lpstr>Сравнение акустических моделей (метрики)</vt:lpstr>
      <vt:lpstr>Применение синтеза речи на предприятии ЧКПЗ</vt:lpstr>
      <vt:lpstr>Сравнение систем синтеза речи</vt:lpstr>
      <vt:lpstr>Заключение</vt:lpstr>
      <vt:lpstr>Постановка задачи на проект. Backend</vt:lpstr>
      <vt:lpstr>Постановка задачи на проект. Frontend</vt:lpstr>
      <vt:lpstr>Постановка задачи на проект. Модель</vt:lpstr>
      <vt:lpstr>Список источников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Сравнение систем синтеза речи (TTS)</dc:title>
  <dc:subject>PptxGenJS Presentation</dc:subject>
  <dc:creator>Соломахин Е. И., Мажаров А. В., Ишутов М. С.</dc:creator>
  <cp:lastModifiedBy>Lenovo</cp:lastModifiedBy>
  <cp:revision>7</cp:revision>
  <dcterms:created xsi:type="dcterms:W3CDTF">2026-10-15T06:46:57Z</dcterms:created>
  <dcterms:modified xsi:type="dcterms:W3CDTF">2026-10-15T07:40:34Z</dcterms:modified>
</cp:coreProperties>
</file>