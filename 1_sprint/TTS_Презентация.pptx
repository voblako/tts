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000000"/>
          </p15:clr>
        </p15:guide>
        <p15:guide id="2" orient="horz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mdNPyC4F7mrsx3+el155g1vYS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63A9AF-0659-4E28-90EF-7B16A460BA38}">
  <a:tblStyle styleId="{1B63A9AF-0659-4E28-90EF-7B16A460BA3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h131bb395324d825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h131bb395324d825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h131bb395324d825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h131bb395324d825c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h131bb395324d825c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h131bb395324d825c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131bb395324d825c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h131bb395324d825c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h131bb395324d825c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131bb395324d825c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h131bb395324d825c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h131bb395324d825c_0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131bb395324d825c_0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h131bb395324d825c_0_1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h131bb395324d825c_0_1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131bb395324d825c_0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h131bb395324d825c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h131bb395324d825c_0_1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h131bb395324d825c_0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h131bb395324d825c_0_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h131bb395324d825c_0_1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image" Target="../media/image12.jpg"/><Relationship Id="rId5" Type="http://schemas.openxmlformats.org/officeDocument/2006/relationships/image" Target="../media/image19.jpg"/><Relationship Id="rId6" Type="http://schemas.openxmlformats.org/officeDocument/2006/relationships/image" Target="../media/image14.png"/><Relationship Id="rId7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9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1288" y="0"/>
            <a:ext cx="12269869" cy="920240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-54014" y="9158"/>
            <a:ext cx="12254278" cy="6988052"/>
          </a:xfrm>
          <a:prstGeom prst="rect">
            <a:avLst/>
          </a:prstGeom>
          <a:solidFill>
            <a:schemeClr val="dk1">
              <a:alpha val="25098"/>
            </a:schemeClr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548640" y="2468880"/>
            <a:ext cx="11064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Сравнение систем синтеза речи (TTS)</a:t>
            </a:r>
            <a:endParaRPr b="0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Проектная работа «Текст в голос», спринт 1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6400800" y="4572000"/>
            <a:ext cx="5212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Выполнили 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Соломахин Е. И., Мажаров А. В., Ишутов М. С.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Руководитель: Плотникова Н. В.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760" y="4083490"/>
            <a:ext cx="7384232" cy="275661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Цель и задачи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54864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548640" y="146304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Цель: </a:t>
            </a:r>
            <a:r>
              <a:rPr b="0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рассмотреть архитектуры систем синтеза речи, определить области их применения на предприятии и сравнить                      ,             SpeechKit и openbmb/VoxCPM2.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548640" y="2651760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Задачи: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548640" y="3108960"/>
            <a:ext cx="110642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изучить структуру систем синтеза речи и эволюцию подходов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рассмотреть ключевые архитектуры, от Tacotron до гибридных моделей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описать метрики качества и </a:t>
            </a:r>
            <a:r>
              <a:rPr lang="en-US" sz="2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нерешенные</a:t>
            </a:r>
            <a:r>
              <a:rPr b="0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проблемы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определить сценарии применения синтеза речи на предприятии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сравнить системы по преимуществам, недостаткам и стоимости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2"/>
          <p:cNvPicPr preferRelativeResize="0"/>
          <p:nvPr/>
        </p:nvPicPr>
        <p:blipFill rotWithShape="1">
          <a:blip r:embed="rId4">
            <a:alphaModFix/>
          </a:blip>
          <a:srcRect b="23483" l="0" r="0" t="26516"/>
          <a:stretch/>
        </p:blipFill>
        <p:spPr>
          <a:xfrm>
            <a:off x="5501580" y="1776218"/>
            <a:ext cx="1066945" cy="533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2957" y="1634630"/>
            <a:ext cx="571197" cy="571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h131bb395324d825c_0_0"/>
          <p:cNvSpPr txBox="1"/>
          <p:nvPr/>
        </p:nvSpPr>
        <p:spPr>
          <a:xfrm>
            <a:off x="548640" y="457200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Конвейер</a:t>
            </a: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системы синтеза речи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h131bb395324d825c_0_0"/>
          <p:cNvSpPr txBox="1"/>
          <p:nvPr/>
        </p:nvSpPr>
        <p:spPr>
          <a:xfrm>
            <a:off x="11155680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h131bb395324d825c_0_0"/>
          <p:cNvSpPr/>
          <p:nvPr/>
        </p:nvSpPr>
        <p:spPr>
          <a:xfrm>
            <a:off x="548640" y="1645920"/>
            <a:ext cx="1828800" cy="822900"/>
          </a:xfrm>
          <a:prstGeom prst="rect">
            <a:avLst/>
          </a:prstGeom>
          <a:solidFill>
            <a:srgbClr val="EAF0F7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h131bb395324d825c_0_0"/>
          <p:cNvSpPr txBox="1"/>
          <p:nvPr/>
        </p:nvSpPr>
        <p:spPr>
          <a:xfrm>
            <a:off x="548640" y="164592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Текст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h131bb395324d825c_0_0"/>
          <p:cNvSpPr/>
          <p:nvPr/>
        </p:nvSpPr>
        <p:spPr>
          <a:xfrm>
            <a:off x="2441448" y="1920240"/>
            <a:ext cx="320100" cy="27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h131bb395324d825c_0_0"/>
          <p:cNvSpPr/>
          <p:nvPr/>
        </p:nvSpPr>
        <p:spPr>
          <a:xfrm>
            <a:off x="2834640" y="1645920"/>
            <a:ext cx="1828800" cy="8229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h131bb395324d825c_0_0"/>
          <p:cNvSpPr txBox="1"/>
          <p:nvPr/>
        </p:nvSpPr>
        <p:spPr>
          <a:xfrm>
            <a:off x="2834640" y="164592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Обработка естественного языка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h131bb395324d825c_0_0"/>
          <p:cNvSpPr txBox="1"/>
          <p:nvPr/>
        </p:nvSpPr>
        <p:spPr>
          <a:xfrm>
            <a:off x="502904" y="3291905"/>
            <a:ext cx="110643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Нормализация текста под речь:</a:t>
            </a:r>
            <a:endParaRPr b="0" i="0" sz="22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перевод графем в фонемы </a:t>
            </a: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(4 -&gt; четыре, молоко -&gt; малако, </a:t>
            </a: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😮 -&gt; охо</a:t>
            </a:r>
            <a:r>
              <a:rPr b="0" i="0" lang="en-US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2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ударения</a:t>
            </a:r>
            <a:endParaRPr b="0" i="0" sz="22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Calibri"/>
              <a:buChar char="•"/>
            </a:pP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п</a:t>
            </a:r>
            <a:r>
              <a:rPr b="0" i="0" lang="en-US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аузы</a:t>
            </a:r>
            <a:endParaRPr b="0" i="0" sz="22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Calibri"/>
              <a:buChar char="•"/>
            </a:pP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эмоции/интонации</a:t>
            </a:r>
            <a:endParaRPr sz="22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&lt;Радость&gt;Ура[0,5 секунд] мы победили этат замО́к&lt;/Радость&gt; </a:t>
            </a:r>
            <a:endParaRPr sz="22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131bb395324d825c_0_67"/>
          <p:cNvSpPr txBox="1"/>
          <p:nvPr/>
        </p:nvSpPr>
        <p:spPr>
          <a:xfrm>
            <a:off x="548640" y="457200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Конвейер</a:t>
            </a: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системы синтеза речи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h131bb395324d825c_0_67"/>
          <p:cNvSpPr txBox="1"/>
          <p:nvPr/>
        </p:nvSpPr>
        <p:spPr>
          <a:xfrm>
            <a:off x="11155680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h131bb395324d825c_0_67"/>
          <p:cNvSpPr/>
          <p:nvPr/>
        </p:nvSpPr>
        <p:spPr>
          <a:xfrm>
            <a:off x="548640" y="1645920"/>
            <a:ext cx="1828800" cy="822900"/>
          </a:xfrm>
          <a:prstGeom prst="rect">
            <a:avLst/>
          </a:prstGeom>
          <a:solidFill>
            <a:srgbClr val="EAF0F7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h131bb395324d825c_0_67"/>
          <p:cNvSpPr txBox="1"/>
          <p:nvPr/>
        </p:nvSpPr>
        <p:spPr>
          <a:xfrm>
            <a:off x="548640" y="164592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Текст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h131bb395324d825c_0_67"/>
          <p:cNvSpPr/>
          <p:nvPr/>
        </p:nvSpPr>
        <p:spPr>
          <a:xfrm>
            <a:off x="2441448" y="1920240"/>
            <a:ext cx="320100" cy="27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h131bb395324d825c_0_67"/>
          <p:cNvSpPr/>
          <p:nvPr/>
        </p:nvSpPr>
        <p:spPr>
          <a:xfrm>
            <a:off x="2834640" y="1645920"/>
            <a:ext cx="1828800" cy="8229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h131bb395324d825c_0_67"/>
          <p:cNvSpPr txBox="1"/>
          <p:nvPr/>
        </p:nvSpPr>
        <p:spPr>
          <a:xfrm>
            <a:off x="2834640" y="164592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Обработка естественного языка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h131bb395324d825c_0_67"/>
          <p:cNvSpPr txBox="1"/>
          <p:nvPr/>
        </p:nvSpPr>
        <p:spPr>
          <a:xfrm>
            <a:off x="563875" y="3341025"/>
            <a:ext cx="43869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Акустическая модель</a:t>
            </a: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2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Calibri"/>
              <a:buChar char="•"/>
            </a:pP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Принимает на вход последовательность векторов</a:t>
            </a:r>
            <a:endParaRPr sz="22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Calibri"/>
              <a:buChar char="•"/>
            </a:pP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Отдаёт мел-спектрограмму.</a:t>
            </a:r>
            <a:endParaRPr sz="22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Какие частоты/детали слышны человеку.</a:t>
            </a:r>
            <a:endParaRPr sz="22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h131bb395324d825c_0_67"/>
          <p:cNvSpPr/>
          <p:nvPr/>
        </p:nvSpPr>
        <p:spPr>
          <a:xfrm>
            <a:off x="4736548" y="1920240"/>
            <a:ext cx="320100" cy="27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h131bb395324d825c_0_67"/>
          <p:cNvSpPr/>
          <p:nvPr/>
        </p:nvSpPr>
        <p:spPr>
          <a:xfrm>
            <a:off x="5129740" y="1645920"/>
            <a:ext cx="1828800" cy="8229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h131bb395324d825c_0_67"/>
          <p:cNvSpPr txBox="1"/>
          <p:nvPr/>
        </p:nvSpPr>
        <p:spPr>
          <a:xfrm>
            <a:off x="5129778" y="164592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Акустическая модель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h131bb395324d825c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694" y="3428996"/>
            <a:ext cx="7327299" cy="34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h131bb395324d825c_0_67"/>
          <p:cNvSpPr txBox="1"/>
          <p:nvPr/>
        </p:nvSpPr>
        <p:spPr>
          <a:xfrm>
            <a:off x="11095200" y="3035400"/>
            <a:ext cx="1096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Громкость</a:t>
            </a:r>
            <a:endParaRPr/>
          </a:p>
        </p:txBody>
      </p:sp>
      <p:sp>
        <p:nvSpPr>
          <p:cNvPr id="66" name="Google Shape;66;h131bb395324d825c_0_67"/>
          <p:cNvSpPr txBox="1"/>
          <p:nvPr/>
        </p:nvSpPr>
        <p:spPr>
          <a:xfrm rot="-5399060">
            <a:off x="4384946" y="5448418"/>
            <a:ext cx="109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Частота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131bb395324d825c_0_21"/>
          <p:cNvSpPr txBox="1"/>
          <p:nvPr/>
        </p:nvSpPr>
        <p:spPr>
          <a:xfrm>
            <a:off x="548640" y="457200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Конвейер</a:t>
            </a: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системы синтеза речи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h131bb395324d825c_0_21"/>
          <p:cNvSpPr txBox="1"/>
          <p:nvPr/>
        </p:nvSpPr>
        <p:spPr>
          <a:xfrm>
            <a:off x="11155680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h131bb395324d825c_0_21"/>
          <p:cNvSpPr/>
          <p:nvPr/>
        </p:nvSpPr>
        <p:spPr>
          <a:xfrm>
            <a:off x="548640" y="1645920"/>
            <a:ext cx="1828800" cy="822900"/>
          </a:xfrm>
          <a:prstGeom prst="rect">
            <a:avLst/>
          </a:prstGeom>
          <a:solidFill>
            <a:srgbClr val="EAF0F7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h131bb395324d825c_0_21"/>
          <p:cNvSpPr txBox="1"/>
          <p:nvPr/>
        </p:nvSpPr>
        <p:spPr>
          <a:xfrm>
            <a:off x="548640" y="164592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Текст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h131bb395324d825c_0_21"/>
          <p:cNvSpPr/>
          <p:nvPr/>
        </p:nvSpPr>
        <p:spPr>
          <a:xfrm>
            <a:off x="2441448" y="1920240"/>
            <a:ext cx="320100" cy="27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h131bb395324d825c_0_21"/>
          <p:cNvSpPr/>
          <p:nvPr/>
        </p:nvSpPr>
        <p:spPr>
          <a:xfrm>
            <a:off x="2834640" y="1645920"/>
            <a:ext cx="1828800" cy="8229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h131bb395324d825c_0_21"/>
          <p:cNvSpPr txBox="1"/>
          <p:nvPr/>
        </p:nvSpPr>
        <p:spPr>
          <a:xfrm>
            <a:off x="2834640" y="164592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Обработка естественного языка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h131bb395324d825c_0_21"/>
          <p:cNvSpPr/>
          <p:nvPr/>
        </p:nvSpPr>
        <p:spPr>
          <a:xfrm>
            <a:off x="4727448" y="1920240"/>
            <a:ext cx="320100" cy="27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h131bb395324d825c_0_21"/>
          <p:cNvSpPr/>
          <p:nvPr/>
        </p:nvSpPr>
        <p:spPr>
          <a:xfrm>
            <a:off x="5120640" y="1645920"/>
            <a:ext cx="1828800" cy="8229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h131bb395324d825c_0_21"/>
          <p:cNvSpPr txBox="1"/>
          <p:nvPr/>
        </p:nvSpPr>
        <p:spPr>
          <a:xfrm>
            <a:off x="5120640" y="164592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Акустическая модель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h131bb395324d825c_0_21"/>
          <p:cNvSpPr/>
          <p:nvPr/>
        </p:nvSpPr>
        <p:spPr>
          <a:xfrm>
            <a:off x="7013448" y="1920240"/>
            <a:ext cx="320100" cy="27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h131bb395324d825c_0_21"/>
          <p:cNvSpPr/>
          <p:nvPr/>
        </p:nvSpPr>
        <p:spPr>
          <a:xfrm>
            <a:off x="7406640" y="1645920"/>
            <a:ext cx="1828800" cy="8229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h131bb395324d825c_0_21"/>
          <p:cNvSpPr txBox="1"/>
          <p:nvPr/>
        </p:nvSpPr>
        <p:spPr>
          <a:xfrm>
            <a:off x="7406640" y="164592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Вокодер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h131bb395324d825c_0_21"/>
          <p:cNvSpPr/>
          <p:nvPr/>
        </p:nvSpPr>
        <p:spPr>
          <a:xfrm>
            <a:off x="9299448" y="1920240"/>
            <a:ext cx="320100" cy="27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h131bb395324d825c_0_21"/>
          <p:cNvSpPr/>
          <p:nvPr/>
        </p:nvSpPr>
        <p:spPr>
          <a:xfrm>
            <a:off x="9692640" y="1645920"/>
            <a:ext cx="1828800" cy="822900"/>
          </a:xfrm>
          <a:prstGeom prst="rect">
            <a:avLst/>
          </a:prstGeom>
          <a:solidFill>
            <a:srgbClr val="EAF0F7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h131bb395324d825c_0_21"/>
          <p:cNvSpPr txBox="1"/>
          <p:nvPr/>
        </p:nvSpPr>
        <p:spPr>
          <a:xfrm>
            <a:off x="9692640" y="164592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Звуковая волна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h131bb395324d825c_0_21"/>
          <p:cNvSpPr txBox="1"/>
          <p:nvPr/>
        </p:nvSpPr>
        <p:spPr>
          <a:xfrm>
            <a:off x="548650" y="3846525"/>
            <a:ext cx="47220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Волновой кодировщик:</a:t>
            </a:r>
            <a:endParaRPr sz="22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Восстанавливает каждое отдельное колебание.</a:t>
            </a:r>
            <a:endParaRPr sz="22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h131bb395324d825c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5850" y="3846525"/>
            <a:ext cx="6906151" cy="30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h131bb395324d825c_0_21"/>
          <p:cNvSpPr txBox="1"/>
          <p:nvPr/>
        </p:nvSpPr>
        <p:spPr>
          <a:xfrm>
            <a:off x="497550" y="3167400"/>
            <a:ext cx="1119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Проблема: Спектрограмма отображает некоторые данные окнами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131bb395324d825c_0_113"/>
          <p:cNvSpPr/>
          <p:nvPr/>
        </p:nvSpPr>
        <p:spPr>
          <a:xfrm>
            <a:off x="2825540" y="1729645"/>
            <a:ext cx="1828800" cy="8229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h131bb395324d825c_0_113"/>
          <p:cNvSpPr txBox="1"/>
          <p:nvPr/>
        </p:nvSpPr>
        <p:spPr>
          <a:xfrm>
            <a:off x="548640" y="457200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Конвейер</a:t>
            </a: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 системы синтеза речи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h131bb395324d825c_0_113"/>
          <p:cNvSpPr txBox="1"/>
          <p:nvPr/>
        </p:nvSpPr>
        <p:spPr>
          <a:xfrm>
            <a:off x="11155680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h131bb395324d825c_0_113"/>
          <p:cNvSpPr/>
          <p:nvPr/>
        </p:nvSpPr>
        <p:spPr>
          <a:xfrm>
            <a:off x="548640" y="2744945"/>
            <a:ext cx="1828800" cy="822900"/>
          </a:xfrm>
          <a:prstGeom prst="rect">
            <a:avLst/>
          </a:prstGeom>
          <a:solidFill>
            <a:srgbClr val="EAF0F7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h131bb395324d825c_0_113"/>
          <p:cNvSpPr txBox="1"/>
          <p:nvPr/>
        </p:nvSpPr>
        <p:spPr>
          <a:xfrm>
            <a:off x="539540" y="2744920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Текст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h131bb395324d825c_0_113"/>
          <p:cNvSpPr/>
          <p:nvPr/>
        </p:nvSpPr>
        <p:spPr>
          <a:xfrm>
            <a:off x="2441448" y="3019265"/>
            <a:ext cx="320100" cy="27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h131bb395324d825c_0_113"/>
          <p:cNvSpPr/>
          <p:nvPr/>
        </p:nvSpPr>
        <p:spPr>
          <a:xfrm>
            <a:off x="2834640" y="2744945"/>
            <a:ext cx="1828800" cy="8229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h131bb395324d825c_0_113"/>
          <p:cNvSpPr txBox="1"/>
          <p:nvPr/>
        </p:nvSpPr>
        <p:spPr>
          <a:xfrm>
            <a:off x="2830090" y="2744945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Обработка естественного языка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h131bb395324d825c_0_113"/>
          <p:cNvSpPr/>
          <p:nvPr/>
        </p:nvSpPr>
        <p:spPr>
          <a:xfrm>
            <a:off x="4727448" y="3019265"/>
            <a:ext cx="320100" cy="27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h131bb395324d825c_0_113"/>
          <p:cNvSpPr/>
          <p:nvPr/>
        </p:nvSpPr>
        <p:spPr>
          <a:xfrm>
            <a:off x="5120640" y="2744945"/>
            <a:ext cx="1828800" cy="8229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h131bb395324d825c_0_113"/>
          <p:cNvSpPr txBox="1"/>
          <p:nvPr/>
        </p:nvSpPr>
        <p:spPr>
          <a:xfrm>
            <a:off x="5120640" y="2744945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Акустическая модель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h131bb395324d825c_0_113"/>
          <p:cNvSpPr/>
          <p:nvPr/>
        </p:nvSpPr>
        <p:spPr>
          <a:xfrm>
            <a:off x="7013448" y="3019265"/>
            <a:ext cx="320100" cy="27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h131bb395324d825c_0_113"/>
          <p:cNvSpPr/>
          <p:nvPr/>
        </p:nvSpPr>
        <p:spPr>
          <a:xfrm>
            <a:off x="7406640" y="2744945"/>
            <a:ext cx="1828800" cy="8229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h131bb395324d825c_0_113"/>
          <p:cNvSpPr txBox="1"/>
          <p:nvPr/>
        </p:nvSpPr>
        <p:spPr>
          <a:xfrm>
            <a:off x="7406640" y="2744945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Вокодер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h131bb395324d825c_0_113"/>
          <p:cNvSpPr/>
          <p:nvPr/>
        </p:nvSpPr>
        <p:spPr>
          <a:xfrm>
            <a:off x="9299448" y="3019265"/>
            <a:ext cx="320100" cy="27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h131bb395324d825c_0_113"/>
          <p:cNvSpPr/>
          <p:nvPr/>
        </p:nvSpPr>
        <p:spPr>
          <a:xfrm>
            <a:off x="9692640" y="2744945"/>
            <a:ext cx="1828800" cy="822900"/>
          </a:xfrm>
          <a:prstGeom prst="rect">
            <a:avLst/>
          </a:prstGeom>
          <a:solidFill>
            <a:srgbClr val="EAF0F7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h131bb395324d825c_0_113"/>
          <p:cNvSpPr txBox="1"/>
          <p:nvPr/>
        </p:nvSpPr>
        <p:spPr>
          <a:xfrm>
            <a:off x="9692640" y="2744945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Звуковая волна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h131bb395324d825c_0_113"/>
          <p:cNvSpPr/>
          <p:nvPr/>
        </p:nvSpPr>
        <p:spPr>
          <a:xfrm>
            <a:off x="539540" y="1729645"/>
            <a:ext cx="1828800" cy="822900"/>
          </a:xfrm>
          <a:prstGeom prst="rect">
            <a:avLst/>
          </a:prstGeom>
          <a:solidFill>
            <a:srgbClr val="EAF0F7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h131bb395324d825c_0_113"/>
          <p:cNvSpPr txBox="1"/>
          <p:nvPr/>
        </p:nvSpPr>
        <p:spPr>
          <a:xfrm>
            <a:off x="548640" y="1729645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Пример голоса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h131bb395324d825c_0_113"/>
          <p:cNvSpPr/>
          <p:nvPr/>
        </p:nvSpPr>
        <p:spPr>
          <a:xfrm>
            <a:off x="2441448" y="2003990"/>
            <a:ext cx="320100" cy="27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h131bb395324d825c_0_113"/>
          <p:cNvSpPr txBox="1"/>
          <p:nvPr/>
        </p:nvSpPr>
        <p:spPr>
          <a:xfrm>
            <a:off x="2825540" y="1729645"/>
            <a:ext cx="1828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Классификация голосов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h131bb395324d825c_0_113"/>
          <p:cNvSpPr/>
          <p:nvPr/>
        </p:nvSpPr>
        <p:spPr>
          <a:xfrm flipH="1" rot="10800000">
            <a:off x="5047538" y="2004140"/>
            <a:ext cx="320100" cy="2739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h131bb395324d825c_0_113"/>
          <p:cNvSpPr txBox="1"/>
          <p:nvPr/>
        </p:nvSpPr>
        <p:spPr>
          <a:xfrm>
            <a:off x="548650" y="3846525"/>
            <a:ext cx="47220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Классификатор</a:t>
            </a: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2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Отдаёт промежуточный вектор, который характеризует голос</a:t>
            </a:r>
            <a:endParaRPr sz="22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h131bb395324d825c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5072450"/>
            <a:ext cx="1539750" cy="153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h131bb395324d825c_0_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2583" y="5023326"/>
            <a:ext cx="2754967" cy="137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h131bb395324d825c_0_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4350" y="3720245"/>
            <a:ext cx="5897108" cy="2528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Эволюция подходов к синтезу речи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4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{1B63A9AF-0659-4E28-90EF-7B16A460BA38}</a:tableStyleId>
              </a:tblPr>
              <a:tblGrid>
                <a:gridCol w="2194550"/>
                <a:gridCol w="3383275"/>
                <a:gridCol w="2743200"/>
                <a:gridCol w="274320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Поколение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Идея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Сильные стороны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Слабые стороны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Склейка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Склейка записанных юнитов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Естественность, скорость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Монотонность, артефакты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Параметрический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Предсказание параметров и вокодер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Мало данных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Низкое качество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Нейросетевой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Tacotron 2 и WaveNet – Внимание и причинная свёртка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Высокое качество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Медленная генерация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Диффузионный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Grad-TTS: шум в спектрограмму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Баланс качества и скорости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Итеративность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Токенный гибрид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Voxtral TTS: токены и </a:t>
                      </a:r>
                      <a:r>
                        <a:rPr lang="en-US" sz="1500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подвод потока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Клонирование голоса, стриминг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Большая модель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57" y="4690586"/>
            <a:ext cx="3612132" cy="1984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"/>
          <p:cNvPicPr preferRelativeResize="0"/>
          <p:nvPr/>
        </p:nvPicPr>
        <p:blipFill rotWithShape="1">
          <a:blip r:embed="rId4">
            <a:alphaModFix/>
          </a:blip>
          <a:srcRect b="36789" l="13447" r="18223" t="40942"/>
          <a:stretch/>
        </p:blipFill>
        <p:spPr>
          <a:xfrm flipH="1">
            <a:off x="4160800" y="4690575"/>
            <a:ext cx="7358327" cy="97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Сравнение акустических моделей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5"/>
          <p:cNvGraphicFramePr/>
          <p:nvPr/>
        </p:nvGraphicFramePr>
        <p:xfrm>
          <a:off x="5995925" y="15275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{1B63A9AF-0659-4E28-90EF-7B16A460BA38}</a:tableStyleId>
              </a:tblPr>
              <a:tblGrid>
                <a:gridCol w="2743200"/>
                <a:gridCol w="1463050"/>
                <a:gridCol w="14630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Модель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RTF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Grad-TTS-1000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4,44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3,663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Grad-TTS-10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4,38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0,033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Grad-TTS-4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3,96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0,012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Tacotron 2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4,32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0,075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Glow-TTS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4,11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0,008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FastSpeech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3,68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0,004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Речь человека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4,53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5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5"/>
          <p:cNvSpPr txBox="1"/>
          <p:nvPr/>
        </p:nvSpPr>
        <p:spPr>
          <a:xfrm>
            <a:off x="142425" y="5922919"/>
            <a:ext cx="5607739" cy="752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**MOS - средняя субъективная оценка от людей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99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**RTF = время работы/время результата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390517" y="1899375"/>
            <a:ext cx="607075" cy="1192375"/>
          </a:xfrm>
          <a:custGeom>
            <a:rect b="b" l="l" r="r" t="t"/>
            <a:pathLst>
              <a:path extrusionOk="0" h="47695" w="24283">
                <a:moveTo>
                  <a:pt x="21771" y="644"/>
                </a:moveTo>
                <a:cubicBezTo>
                  <a:pt x="18970" y="-1037"/>
                  <a:pt x="13353" y="824"/>
                  <a:pt x="12560" y="3993"/>
                </a:cubicBezTo>
                <a:cubicBezTo>
                  <a:pt x="11510" y="8190"/>
                  <a:pt x="14166" y="12955"/>
                  <a:pt x="12560" y="16972"/>
                </a:cubicBezTo>
                <a:cubicBezTo>
                  <a:pt x="11065" y="20712"/>
                  <a:pt x="4865" y="19903"/>
                  <a:pt x="837" y="19903"/>
                </a:cubicBezTo>
                <a:cubicBezTo>
                  <a:pt x="-838" y="19903"/>
                  <a:pt x="4363" y="19154"/>
                  <a:pt x="5861" y="19903"/>
                </a:cubicBezTo>
                <a:cubicBezTo>
                  <a:pt x="8868" y="21405"/>
                  <a:pt x="11312" y="24318"/>
                  <a:pt x="12560" y="27439"/>
                </a:cubicBezTo>
                <a:cubicBezTo>
                  <a:pt x="14511" y="32317"/>
                  <a:pt x="6680" y="37415"/>
                  <a:pt x="7955" y="42512"/>
                </a:cubicBezTo>
                <a:cubicBezTo>
                  <a:pt x="9310" y="47931"/>
                  <a:pt x="19288" y="48780"/>
                  <a:pt x="24283" y="462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2" name="Google Shape;142;p5"/>
          <p:cNvSpPr/>
          <p:nvPr/>
        </p:nvSpPr>
        <p:spPr>
          <a:xfrm>
            <a:off x="5323125" y="3091752"/>
            <a:ext cx="607075" cy="1105451"/>
          </a:xfrm>
          <a:custGeom>
            <a:rect b="b" l="l" r="r" t="t"/>
            <a:pathLst>
              <a:path extrusionOk="0" h="47695" w="24283">
                <a:moveTo>
                  <a:pt x="21771" y="644"/>
                </a:moveTo>
                <a:cubicBezTo>
                  <a:pt x="18970" y="-1037"/>
                  <a:pt x="13353" y="824"/>
                  <a:pt x="12560" y="3993"/>
                </a:cubicBezTo>
                <a:cubicBezTo>
                  <a:pt x="11510" y="8190"/>
                  <a:pt x="14166" y="12955"/>
                  <a:pt x="12560" y="16972"/>
                </a:cubicBezTo>
                <a:cubicBezTo>
                  <a:pt x="11065" y="20712"/>
                  <a:pt x="4865" y="19903"/>
                  <a:pt x="837" y="19903"/>
                </a:cubicBezTo>
                <a:cubicBezTo>
                  <a:pt x="-838" y="19903"/>
                  <a:pt x="4363" y="19154"/>
                  <a:pt x="5861" y="19903"/>
                </a:cubicBezTo>
                <a:cubicBezTo>
                  <a:pt x="8868" y="21405"/>
                  <a:pt x="11312" y="24318"/>
                  <a:pt x="12560" y="27439"/>
                </a:cubicBezTo>
                <a:cubicBezTo>
                  <a:pt x="14511" y="32317"/>
                  <a:pt x="6680" y="37415"/>
                  <a:pt x="7955" y="42512"/>
                </a:cubicBezTo>
                <a:cubicBezTo>
                  <a:pt x="9310" y="47931"/>
                  <a:pt x="19288" y="48780"/>
                  <a:pt x="24283" y="4628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3" name="Google Shape;143;p5"/>
          <p:cNvSpPr txBox="1"/>
          <p:nvPr/>
        </p:nvSpPr>
        <p:spPr>
          <a:xfrm>
            <a:off x="3885525" y="2187625"/>
            <a:ext cx="143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999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Диффузия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2208550" y="3555825"/>
            <a:ext cx="304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999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Прямые нейросетевые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Применение синтеза речи на предприятии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548640" y="1554480"/>
            <a:ext cx="53949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Инструктажи и обучение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оповещение в цехах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и диспетчерезация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голосовые подсказки операторам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обучение и адаптация новичков</a:t>
            </a:r>
            <a:endParaRPr b="0" i="0" sz="20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перевод речи</a:t>
            </a:r>
            <a:endParaRPr sz="20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6217920" y="1554480"/>
            <a:ext cx="53949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502920" y="5443508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Требования к системе: </a:t>
            </a:r>
            <a:r>
              <a:rPr b="0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быстрая генерация, частое обновление текстов без диктора, поддержка нескольких языков.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3">
            <a:alphaModFix/>
          </a:blip>
          <a:srcRect b="13366" l="0" r="50769" t="0"/>
          <a:stretch/>
        </p:blipFill>
        <p:spPr>
          <a:xfrm>
            <a:off x="6786600" y="1188719"/>
            <a:ext cx="2781169" cy="1882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6"/>
          <p:cNvPicPr preferRelativeResize="0"/>
          <p:nvPr/>
        </p:nvPicPr>
        <p:blipFill rotWithShape="1">
          <a:blip r:embed="rId4">
            <a:alphaModFix/>
          </a:blip>
          <a:srcRect b="0" l="35730" r="39021" t="0"/>
          <a:stretch/>
        </p:blipFill>
        <p:spPr>
          <a:xfrm>
            <a:off x="10092274" y="950136"/>
            <a:ext cx="1292004" cy="3838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6"/>
          <p:cNvPicPr preferRelativeResize="0"/>
          <p:nvPr/>
        </p:nvPicPr>
        <p:blipFill rotWithShape="1">
          <a:blip r:embed="rId5">
            <a:alphaModFix/>
          </a:blip>
          <a:srcRect b="25783" l="19322" r="23127" t="24092"/>
          <a:stretch/>
        </p:blipFill>
        <p:spPr>
          <a:xfrm>
            <a:off x="6584056" y="3151850"/>
            <a:ext cx="3508217" cy="2291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33687" y="4663413"/>
            <a:ext cx="761625" cy="50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56227" y="4663426"/>
            <a:ext cx="843182" cy="50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Сравнение систем синтеза речи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p7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{1B63A9AF-0659-4E28-90EF-7B16A460BA38}</a:tableStyleId>
              </a:tblPr>
              <a:tblGrid>
                <a:gridCol w="2377450"/>
                <a:gridCol w="3474725"/>
                <a:gridCol w="2743200"/>
                <a:gridCol w="2468875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Сервис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Преимущество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Недостаток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Стоимость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ElevenLabs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Высокое качество, много голосов, SSML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Невозможна оплата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копеек за символ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Yandex SpeechKit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Низкая цена, реальное время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Металлические шумы, нет SSML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 копейки за символ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7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openbmb/VoxCPM2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Открытая модель, качество, SSML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Нужно не менее 8 ГБ памяти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Бесплатно, свой сервер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8" name="Google Shape;168;p7"/>
          <p:cNvSpPr txBox="1"/>
          <p:nvPr/>
        </p:nvSpPr>
        <p:spPr>
          <a:xfrm>
            <a:off x="548640" y="4297680"/>
            <a:ext cx="11064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Вывод: </a:t>
            </a:r>
            <a:r>
              <a:rPr b="0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Yandex SpeechKit подходит для быстрых оповещений, VoxCPM2 для качества и управления произношением. ElevenLabs недоступен из-за оплаты.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Заключение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TTS развивалась от склейки записей через статистические модели к нейросетям, по MOS близким к человеку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схема «frontend, акустическая модель, вокодер» </a:t>
            </a:r>
            <a:r>
              <a:rPr lang="en-US" sz="19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остается</a:t>
            </a:r>
            <a:r>
              <a:rPr b="0" i="0" lang="en-US" sz="19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основой, но появляются end-to-end модели и системы на </a:t>
            </a:r>
            <a:r>
              <a:rPr lang="en-US" sz="19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аудио токенах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оценка качества остаётся слабым местом: без людей надёжно проверить естественность нельзя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для предприятия синтез речи применим в инструктажах, оповещениях, обучении и других задачах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Yandex SpeechKit выигрывает в цене и скорости, VoxCPM2 даёт качество и SSML при наличии ресурсов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131bb395324d825c_0_179"/>
          <p:cNvSpPr txBox="1"/>
          <p:nvPr/>
        </p:nvSpPr>
        <p:spPr>
          <a:xfrm>
            <a:off x="548640" y="457200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 на проект.</a:t>
            </a:r>
            <a:r>
              <a:rPr b="1" lang="en-US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h131bb395324d825c_0_179"/>
          <p:cNvSpPr txBox="1"/>
          <p:nvPr/>
        </p:nvSpPr>
        <p:spPr>
          <a:xfrm>
            <a:off x="11155680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h131bb395324d825c_0_179"/>
          <p:cNvSpPr txBox="1"/>
          <p:nvPr/>
        </p:nvSpPr>
        <p:spPr>
          <a:xfrm>
            <a:off x="548640" y="1463040"/>
            <a:ext cx="110643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spcBef>
                <a:spcPts val="999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131bb395324d825c_0_186"/>
          <p:cNvSpPr txBox="1"/>
          <p:nvPr/>
        </p:nvSpPr>
        <p:spPr>
          <a:xfrm>
            <a:off x="548640" y="457200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 на проект.</a:t>
            </a:r>
            <a:r>
              <a:rPr b="1" lang="en-US" sz="32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h131bb395324d825c_0_186"/>
          <p:cNvSpPr txBox="1"/>
          <p:nvPr/>
        </p:nvSpPr>
        <p:spPr>
          <a:xfrm>
            <a:off x="11155680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h131bb395324d825c_0_186"/>
          <p:cNvSpPr txBox="1"/>
          <p:nvPr/>
        </p:nvSpPr>
        <p:spPr>
          <a:xfrm>
            <a:off x="548640" y="1463040"/>
            <a:ext cx="110643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spcBef>
                <a:spcPts val="999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131bb395324d825c_0_172"/>
          <p:cNvSpPr txBox="1"/>
          <p:nvPr/>
        </p:nvSpPr>
        <p:spPr>
          <a:xfrm>
            <a:off x="548640" y="457200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 на проект.Модель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h131bb395324d825c_0_172"/>
          <p:cNvSpPr txBox="1"/>
          <p:nvPr/>
        </p:nvSpPr>
        <p:spPr>
          <a:xfrm>
            <a:off x="11155680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h131bb395324d825c_0_172"/>
          <p:cNvSpPr txBox="1"/>
          <p:nvPr/>
        </p:nvSpPr>
        <p:spPr>
          <a:xfrm>
            <a:off x="548643" y="1463050"/>
            <a:ext cx="28428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999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Написание обёртки для существующих моделей с huggingface или облачных вариантов.</a:t>
            </a:r>
            <a:endParaRPr b="0" i="0" sz="19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h131bb395324d825c_0_172"/>
          <p:cNvSpPr txBox="1"/>
          <p:nvPr/>
        </p:nvSpPr>
        <p:spPr>
          <a:xfrm>
            <a:off x="4674600" y="1463050"/>
            <a:ext cx="2842800" cy="9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999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Составление единого датасета из разных источников. </a:t>
            </a:r>
            <a:endParaRPr b="0" i="0" sz="19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h131bb395324d825c_0_172"/>
          <p:cNvSpPr txBox="1"/>
          <p:nvPr/>
        </p:nvSpPr>
        <p:spPr>
          <a:xfrm>
            <a:off x="8971943" y="1501200"/>
            <a:ext cx="28428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999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Обучение своей модели. Стремление к реальному времени.</a:t>
            </a:r>
            <a:endParaRPr b="0" i="0" sz="1900" u="none" cap="none" strike="noStrike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h131bb395324d825c_0_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825" y="3684400"/>
            <a:ext cx="2672451" cy="267245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h131bb395324d825c_0_172"/>
          <p:cNvSpPr txBox="1"/>
          <p:nvPr/>
        </p:nvSpPr>
        <p:spPr>
          <a:xfrm>
            <a:off x="4535050" y="3509050"/>
            <a:ext cx="30000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999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Дообучение фундаментальной модели для </a:t>
            </a:r>
            <a:r>
              <a:rPr lang="en-US" sz="19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повышения качества русского языка.</a:t>
            </a:r>
            <a:endParaRPr/>
          </a:p>
        </p:txBody>
      </p:sp>
      <p:pic>
        <p:nvPicPr>
          <p:cNvPr id="205" name="Google Shape;205;h131bb395324d825c_0_172"/>
          <p:cNvPicPr preferRelativeResize="0"/>
          <p:nvPr/>
        </p:nvPicPr>
        <p:blipFill rotWithShape="1">
          <a:blip r:embed="rId4">
            <a:alphaModFix/>
          </a:blip>
          <a:srcRect b="18672" l="1029" r="1931" t="24296"/>
          <a:stretch/>
        </p:blipFill>
        <p:spPr>
          <a:xfrm>
            <a:off x="4130250" y="2329950"/>
            <a:ext cx="3809576" cy="109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h131bb395324d825c_0_1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3580" y="5037800"/>
            <a:ext cx="3003822" cy="16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h131bb395324d825c_0_1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2327" y="5037801"/>
            <a:ext cx="843182" cy="50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h131bb395324d825c_0_1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00887" y="5037800"/>
            <a:ext cx="761625" cy="50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h131bb395324d825c_0_17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57125" y="4316475"/>
            <a:ext cx="2470500" cy="164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h131bb395324d825c_0_172"/>
          <p:cNvPicPr preferRelativeResize="0"/>
          <p:nvPr/>
        </p:nvPicPr>
        <p:blipFill rotWithShape="1">
          <a:blip r:embed="rId9">
            <a:alphaModFix/>
          </a:blip>
          <a:srcRect b="22517" l="0" r="0" t="0"/>
          <a:stretch/>
        </p:blipFill>
        <p:spPr>
          <a:xfrm>
            <a:off x="8518924" y="2920549"/>
            <a:ext cx="3546914" cy="145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Список источников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10"/>
          <p:cNvCxnSpPr/>
          <p:nvPr/>
        </p:nvCxnSpPr>
        <p:spPr>
          <a:xfrm>
            <a:off x="548640" y="1188720"/>
            <a:ext cx="11064240" cy="0"/>
          </a:xfrm>
          <a:prstGeom prst="straightConnector1">
            <a:avLst/>
          </a:prstGeom>
          <a:noFill/>
          <a:ln cap="flat" cmpd="sng" w="1905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0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Обзор технологий синтеза речи // Хабр, Т-Банк. 2019.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Hugging Face Audio Course. Unit 3: Refresher on transformer models, CTC architectures, Seq2Seq architectures.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Синтез речи // ИТМО, Викиконспекты.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Liu A. H. et al. Voxtral TTS // arXiv:2603.25551. 2026.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alibri"/>
              <a:buAutoNum type="arabicPeriod"/>
            </a:pPr>
            <a:r>
              <a:rPr b="0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Popov V. et al. Grad-TTS: A Diffusion Probabilistic Model for Text-to-Speech // ICML 2021.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2026-10-08T05:14:23Z</dcterms:created>
  <dc:creator>PptxGenJS</dc:creator>
</cp:coreProperties>
</file>